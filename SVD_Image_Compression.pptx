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tivation" id="{49845eee-91f7-4e79-50cb-09ff52c87146}">
          <p14:sldIdLst>
            <p14:sldId id="256"/>
          </p14:sldIdLst>
        </p14:section>
        <p14:section name="Method" id="{4a1fa5fe-8ce8-fc88-d3bb-62189b62602c}">
          <p14:sldIdLst>
            <p14:sldId id="257"/>
            <p14:sldId id="258"/>
          </p14:sldIdLst>
        </p14:section>
        <p14:section name="Results" id="{b75cfeb0-94e0-75ca-8a27-759d50da7df3}">
          <p14:sldIdLst>
            <p14:sldId id="259"/>
            <p14:sldId id="260"/>
          </p14:sldIdLst>
        </p14:section>
        <p14:section name="Conclusion" id="{a21acadf-3813-3138-5205-252df794804b}">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81D"/>
                </a:solidFill>
                <a:latin typeface="+mn-lt"/>
              </a:defRPr>
            </a:pPr>
            <a:r>
              <a:rPr sz="1400" b="0" i="0" u="none" strike="noStrike">
                <a:solidFill>
                  <a:srgbClr val="15181D"/>
                </a:solidFill>
                <a:latin typeface="+mn-lt"/>
              </a:rPr>
              <a:t>Quality (PSNR) vs. rank k</a:t>
            </a:r>
          </a:p>
        </c:rich>
      </c:tx>
      <c:layout/>
      <c:overlay val="0"/>
    </c:title>
    <c:autoTitleDeleted val="0"/>
    <c:plotArea>
      <c:layout/>
      <c:scatterChart>
        <c:scatterStyle val="lineMarker"/>
        <c:varyColors val="0"/>
        <c:ser>
          <c:idx val="0"/>
          <c:order val="0"/>
          <c:tx>
            <c:strRef>
              <c:f>Sheet1!$B$1</c:f>
              <c:strCache>
                <c:ptCount val="1"/>
                <c:pt idx="0">
                  <c:v>Grayscale (cameraman)</c:v>
                </c:pt>
              </c:strCache>
            </c:strRef>
          </c:tx>
          <c:spPr>
            <a:solidFill>
              <a:srgbClr val="2B3440"/>
            </a:solidFill>
            <a:ln w="31750" cap="flat">
              <a:solidFill>
                <a:srgbClr val="2B3440"/>
              </a:solidFill>
              <a:prstDash val="solid"/>
              <a:round/>
            </a:ln>
            <a:effectLst/>
          </c:spPr>
          <c:marker>
            <c:symbol val="circle"/>
            <c:size val="5"/>
            <c:spPr>
              <a:solidFill>
                <a:srgbClr val="2B3440"/>
              </a:solidFill>
              <a:ln w="9525" cap="flat">
                <a:solidFill>
                  <a:srgbClr val="2B3440"/>
                </a:solidFill>
                <a:prstDash val="solid"/>
                <a:round/>
              </a:ln>
              <a:effectLst/>
            </c:spPr>
          </c:marker>
          <c:xVal>
            <c:numRef>
              <c:f>Sheet1!$A$2:$A$19</c:f>
              <c:numCache>
                <c:formatCode>General</c:formatCode>
                <c:ptCount val="18"/>
                <c:pt idx="0">
                  <c:v>1</c:v>
                </c:pt>
                <c:pt idx="1">
                  <c:v>2</c:v>
                </c:pt>
                <c:pt idx="2">
                  <c:v>3</c:v>
                </c:pt>
                <c:pt idx="3">
                  <c:v>5</c:v>
                </c:pt>
                <c:pt idx="4">
                  <c:v>8</c:v>
                </c:pt>
                <c:pt idx="5">
                  <c:v>10</c:v>
                </c:pt>
                <c:pt idx="6">
                  <c:v>15</c:v>
                </c:pt>
                <c:pt idx="7">
                  <c:v>20</c:v>
                </c:pt>
                <c:pt idx="8">
                  <c:v>30</c:v>
                </c:pt>
                <c:pt idx="9">
                  <c:v>40</c:v>
                </c:pt>
                <c:pt idx="10">
                  <c:v>50</c:v>
                </c:pt>
                <c:pt idx="11">
                  <c:v>60</c:v>
                </c:pt>
                <c:pt idx="12">
                  <c:v>75</c:v>
                </c:pt>
                <c:pt idx="13">
                  <c:v>100</c:v>
                </c:pt>
                <c:pt idx="14">
                  <c:v>125</c:v>
                </c:pt>
                <c:pt idx="15">
                  <c:v>150</c:v>
                </c:pt>
                <c:pt idx="16">
                  <c:v>200</c:v>
                </c:pt>
                <c:pt idx="17">
                  <c:v>256</c:v>
                </c:pt>
              </c:numCache>
            </c:numRef>
          </c:xVal>
          <c:yVal>
            <c:numRef>
              <c:f>Sheet1!$B$2:$B$19</c:f>
              <c:numCache>
                <c:formatCode>General</c:formatCode>
                <c:ptCount val="18"/>
                <c:pt idx="0">
                  <c:v>13.55</c:v>
                </c:pt>
                <c:pt idx="1">
                  <c:v>15.68</c:v>
                </c:pt>
                <c:pt idx="2">
                  <c:v>17.81</c:v>
                </c:pt>
                <c:pt idx="3">
                  <c:v>20</c:v>
                </c:pt>
                <c:pt idx="4">
                  <c:v>21.33</c:v>
                </c:pt>
                <c:pt idx="5">
                  <c:v>22.11</c:v>
                </c:pt>
                <c:pt idx="6">
                  <c:v>23.55</c:v>
                </c:pt>
                <c:pt idx="7">
                  <c:v>24.62</c:v>
                </c:pt>
                <c:pt idx="8">
                  <c:v>26.34</c:v>
                </c:pt>
                <c:pt idx="9">
                  <c:v>27.56</c:v>
                </c:pt>
                <c:pt idx="10">
                  <c:v>28.64</c:v>
                </c:pt>
                <c:pt idx="11">
                  <c:v>29.64</c:v>
                </c:pt>
                <c:pt idx="12">
                  <c:v>30.96</c:v>
                </c:pt>
                <c:pt idx="13">
                  <c:v>32.81</c:v>
                </c:pt>
                <c:pt idx="14">
                  <c:v>34.5</c:v>
                </c:pt>
                <c:pt idx="15">
                  <c:v>36.21</c:v>
                </c:pt>
                <c:pt idx="16">
                  <c:v>39.72</c:v>
                </c:pt>
                <c:pt idx="17">
                  <c:v>44.01</c:v>
                </c:pt>
              </c:numCache>
            </c:numRef>
          </c:yVal>
          <c:smooth val="0"/>
        </c:ser>
        <c:ser>
          <c:idx val="1"/>
          <c:order val="1"/>
          <c:tx>
            <c:strRef>
              <c:f>Sheet1!$C$1</c:f>
              <c:strCache>
                <c:ptCount val="1"/>
                <c:pt idx="0">
                  <c:v>Colour (astronaut)</c:v>
                </c:pt>
              </c:strCache>
            </c:strRef>
          </c:tx>
          <c:spPr>
            <a:solidFill>
              <a:srgbClr val="E8871E"/>
            </a:solidFill>
            <a:ln w="31750" cap="flat">
              <a:solidFill>
                <a:srgbClr val="E8871E"/>
              </a:solidFill>
              <a:prstDash val="solid"/>
              <a:round/>
            </a:ln>
            <a:effectLst/>
          </c:spPr>
          <c:marker>
            <c:symbol val="circle"/>
            <c:size val="5"/>
            <c:spPr>
              <a:solidFill>
                <a:srgbClr val="E8871E"/>
              </a:solidFill>
              <a:ln w="9525" cap="flat">
                <a:solidFill>
                  <a:srgbClr val="E8871E"/>
                </a:solidFill>
                <a:prstDash val="solid"/>
                <a:round/>
              </a:ln>
              <a:effectLst/>
            </c:spPr>
          </c:marker>
          <c:xVal>
            <c:numRef>
              <c:f>Sheet1!$A$2:$A$19</c:f>
              <c:numCache>
                <c:formatCode>General</c:formatCode>
                <c:ptCount val="18"/>
                <c:pt idx="0">
                  <c:v>1</c:v>
                </c:pt>
                <c:pt idx="1">
                  <c:v>2</c:v>
                </c:pt>
                <c:pt idx="2">
                  <c:v>3</c:v>
                </c:pt>
                <c:pt idx="3">
                  <c:v>5</c:v>
                </c:pt>
                <c:pt idx="4">
                  <c:v>8</c:v>
                </c:pt>
                <c:pt idx="5">
                  <c:v>10</c:v>
                </c:pt>
                <c:pt idx="6">
                  <c:v>15</c:v>
                </c:pt>
                <c:pt idx="7">
                  <c:v>20</c:v>
                </c:pt>
                <c:pt idx="8">
                  <c:v>30</c:v>
                </c:pt>
                <c:pt idx="9">
                  <c:v>40</c:v>
                </c:pt>
                <c:pt idx="10">
                  <c:v>50</c:v>
                </c:pt>
                <c:pt idx="11">
                  <c:v>60</c:v>
                </c:pt>
                <c:pt idx="12">
                  <c:v>75</c:v>
                </c:pt>
                <c:pt idx="13">
                  <c:v>100</c:v>
                </c:pt>
                <c:pt idx="14">
                  <c:v>125</c:v>
                </c:pt>
                <c:pt idx="15">
                  <c:v>150</c:v>
                </c:pt>
                <c:pt idx="16">
                  <c:v>200</c:v>
                </c:pt>
                <c:pt idx="17">
                  <c:v>256</c:v>
                </c:pt>
              </c:numCache>
            </c:numRef>
          </c:xVal>
          <c:yVal>
            <c:numRef>
              <c:f>Sheet1!$C$2:$C$19</c:f>
              <c:numCache>
                <c:formatCode>General</c:formatCode>
                <c:ptCount val="18"/>
                <c:pt idx="0">
                  <c:v>11.86</c:v>
                </c:pt>
                <c:pt idx="1">
                  <c:v>13.61</c:v>
                </c:pt>
                <c:pt idx="2">
                  <c:v>14.62</c:v>
                </c:pt>
                <c:pt idx="3">
                  <c:v>16.17</c:v>
                </c:pt>
                <c:pt idx="4">
                  <c:v>18.06</c:v>
                </c:pt>
                <c:pt idx="5">
                  <c:v>19.04</c:v>
                </c:pt>
                <c:pt idx="6">
                  <c:v>20.86</c:v>
                </c:pt>
                <c:pt idx="7">
                  <c:v>22.19</c:v>
                </c:pt>
                <c:pt idx="8">
                  <c:v>24.34</c:v>
                </c:pt>
                <c:pt idx="9">
                  <c:v>25.99</c:v>
                </c:pt>
                <c:pt idx="10">
                  <c:v>27.41</c:v>
                </c:pt>
                <c:pt idx="11">
                  <c:v>28.69</c:v>
                </c:pt>
                <c:pt idx="12">
                  <c:v>30.38</c:v>
                </c:pt>
                <c:pt idx="13">
                  <c:v>32.86</c:v>
                </c:pt>
                <c:pt idx="14">
                  <c:v>35.08</c:v>
                </c:pt>
                <c:pt idx="15">
                  <c:v>37.16</c:v>
                </c:pt>
                <c:pt idx="16">
                  <c:v>41.02</c:v>
                </c:pt>
                <c:pt idx="17">
                  <c:v>45.16</c:v>
                </c:pt>
              </c:numCache>
            </c:numRef>
          </c:yVal>
          <c:smooth val="0"/>
        </c:ser>
        <c:ser>
          <c:idx val="2"/>
          <c:order val="2"/>
          <c:tx>
            <c:strRef>
              <c:f>Sheet1!$D$1</c:f>
              <c:strCache>
                <c:ptCount val="1"/>
                <c:pt idx="0">
                  <c:v>30 dB: good on screen</c:v>
                </c:pt>
              </c:strCache>
            </c:strRef>
          </c:tx>
          <c:spPr>
            <a:solidFill>
              <a:srgbClr val="8A96A3"/>
            </a:solidFill>
            <a:ln w="19050" cap="flat">
              <a:solidFill>
                <a:srgbClr val="8A96A3"/>
              </a:solidFill>
              <a:prstDash val="dash"/>
              <a:round/>
            </a:ln>
            <a:effectLst/>
          </c:spPr>
          <c:marker>
            <c:symbol val="none"/>
          </c:marker>
          <c:xVal>
            <c:numRef>
              <c:f>Sheet1!$A$2:$A$19</c:f>
              <c:numCache>
                <c:formatCode>General</c:formatCode>
                <c:ptCount val="18"/>
                <c:pt idx="0">
                  <c:v>1</c:v>
                </c:pt>
                <c:pt idx="1">
                  <c:v>2</c:v>
                </c:pt>
                <c:pt idx="2">
                  <c:v>3</c:v>
                </c:pt>
                <c:pt idx="3">
                  <c:v>5</c:v>
                </c:pt>
                <c:pt idx="4">
                  <c:v>8</c:v>
                </c:pt>
                <c:pt idx="5">
                  <c:v>10</c:v>
                </c:pt>
                <c:pt idx="6">
                  <c:v>15</c:v>
                </c:pt>
                <c:pt idx="7">
                  <c:v>20</c:v>
                </c:pt>
                <c:pt idx="8">
                  <c:v>30</c:v>
                </c:pt>
                <c:pt idx="9">
                  <c:v>40</c:v>
                </c:pt>
                <c:pt idx="10">
                  <c:v>50</c:v>
                </c:pt>
                <c:pt idx="11">
                  <c:v>60</c:v>
                </c:pt>
                <c:pt idx="12">
                  <c:v>75</c:v>
                </c:pt>
                <c:pt idx="13">
                  <c:v>100</c:v>
                </c:pt>
                <c:pt idx="14">
                  <c:v>125</c:v>
                </c:pt>
                <c:pt idx="15">
                  <c:v>150</c:v>
                </c:pt>
                <c:pt idx="16">
                  <c:v>200</c:v>
                </c:pt>
                <c:pt idx="17">
                  <c:v>256</c:v>
                </c:pt>
              </c:numCache>
            </c:numRef>
          </c:xVal>
          <c:yVal>
            <c:numRef>
              <c:f>Sheet1!$D$2:$D$19</c:f>
              <c:numCache>
                <c:formatCode>General</c:formatCode>
                <c:ptCount val="18"/>
                <c:pt idx="0">
                  <c:v>30</c:v>
                </c:pt>
                <c:pt idx="1">
                  <c:v>30</c:v>
                </c:pt>
                <c:pt idx="2">
                  <c:v>30</c:v>
                </c:pt>
                <c:pt idx="3">
                  <c:v>30</c:v>
                </c:pt>
                <c:pt idx="4">
                  <c:v>30</c:v>
                </c:pt>
                <c:pt idx="5">
                  <c:v>30</c:v>
                </c:pt>
                <c:pt idx="6">
                  <c:v>30</c:v>
                </c:pt>
                <c:pt idx="7">
                  <c:v>30</c:v>
                </c:pt>
                <c:pt idx="8">
                  <c:v>30</c:v>
                </c:pt>
                <c:pt idx="9">
                  <c:v>30</c:v>
                </c:pt>
                <c:pt idx="10">
                  <c:v>30</c:v>
                </c:pt>
                <c:pt idx="11">
                  <c:v>30</c:v>
                </c:pt>
                <c:pt idx="12">
                  <c:v>30</c:v>
                </c:pt>
                <c:pt idx="13">
                  <c:v>30</c:v>
                </c:pt>
                <c:pt idx="14">
                  <c:v>30</c:v>
                </c:pt>
                <c:pt idx="15">
                  <c:v>30</c:v>
                </c:pt>
                <c:pt idx="16">
                  <c:v>30</c:v>
                </c:pt>
                <c:pt idx="17">
                  <c:v>30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60"/>
          <c:min val="0"/>
        </c:scaling>
        <c:delete val="0"/>
        <c:axPos val="b"/>
        <c:title>
          <c:tx>
            <c:rich>
              <a:bodyPr/>
              <a:lstStyle/>
              <a:p>
                <a:pPr>
                  <a:defRPr sz="1200" b="0" i="0" u="none" strike="noStrike">
                    <a:solidFill>
                      <a:srgbClr val="2B3440"/>
                    </a:solidFill>
                    <a:latin typeface="+mn-lt"/>
                  </a:defRPr>
                </a:pPr>
                <a:r>
                  <a:rPr sz="1200" b="0" i="0" u="none" strike="noStrike">
                    <a:solidFill>
                      <a:srgbClr val="2B3440"/>
                    </a:solidFill>
                    <a:latin typeface="+mn-lt"/>
                  </a:rPr>
                  <a:t>rank k (layers kept)</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2B3440"/>
                </a:solidFill>
                <a:latin typeface="+mn-lt"/>
              </a:defRPr>
            </a:pPr>
            <a:endParaRPr lang="en-US"/>
          </a:p>
        </c:txPr>
        <c:crossAx val="2094734552"/>
        <c:crosses val="autoZero"/>
        <c:auto val="1"/>
        <c:lblAlgn val="ctr"/>
        <c:noMultiLvlLbl val="1"/>
        <c:majorUnit val="50"/>
      </c:valAx>
      <c:valAx>
        <c:axId val="2094734552"/>
        <c:scaling>
          <c:orientation val="minMax"/>
          <c:max val="46"/>
          <c:min val="10"/>
        </c:scaling>
        <c:delete val="0"/>
        <c:axPos val="l"/>
        <c:majorGridlines>
          <c:spPr>
            <a:ln w="9525" cap="flat">
              <a:solidFill>
                <a:srgbClr val="E3E7EB"/>
              </a:solidFill>
              <a:prstDash val="solid"/>
              <a:round/>
            </a:ln>
          </c:spPr>
        </c:majorGridlines>
        <c:title>
          <c:tx>
            <c:rich>
              <a:bodyPr/>
              <a:lstStyle/>
              <a:p>
                <a:pPr>
                  <a:defRPr sz="1200" b="0" i="0" u="none" strike="noStrike">
                    <a:solidFill>
                      <a:srgbClr val="2B3440"/>
                    </a:solidFill>
                    <a:latin typeface="+mn-lt"/>
                  </a:defRPr>
                </a:pPr>
                <a:r>
                  <a:rPr sz="1200" b="0" i="0" u="none" strike="noStrike">
                    <a:solidFill>
                      <a:srgbClr val="2B3440"/>
                    </a:solidFill>
                    <a:latin typeface="+mn-lt"/>
                  </a:rPr>
                  <a:t>PSNR (dB)</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2B3440"/>
                </a:solidFill>
                <a:latin typeface="+mn-lt"/>
              </a:defRPr>
            </a:pPr>
            <a:endParaRPr lang="en-US"/>
          </a:p>
        </c:txPr>
        <c:crossAx val="2094734554"/>
        <c:crosses val="autoZero"/>
        <c:crossBetween val="midCat"/>
        <c:majorUnit val="5"/>
      </c:valAx>
      <c:spPr>
        <a:noFill/>
        <a:ln>
          <a:noFill/>
        </a:ln>
        <a:effectLst/>
      </c:spPr>
    </c:plotArea>
    <c:legend>
      <c:legendPos val="b"/>
      <c:overlay val="0"/>
      <c:txPr>
        <a:bodyPr/>
        <a:lstStyle/>
        <a:p>
          <a:pPr>
            <a:defRPr sz="1100">
              <a:solidFill>
                <a:srgbClr val="2B344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Kilobytes to store the cameraman at ≈ 33 dB</a:t>
            </a:r>
          </a:p>
        </c:rich>
      </c:tx>
      <c:layout/>
      <c:overlay val="0"/>
    </c:title>
    <c:autoTitleDeleted val="0"/>
    <c:plotArea>
      <c:layout/>
      <c:barChart>
        <c:barDir val="bar"/>
        <c:grouping val="clustered"/>
        <c:varyColors val="0"/>
        <c:ser>
          <c:idx val="0"/>
          <c:order val="0"/>
          <c:tx>
            <c:strRef>
              <c:f>Sheet1!$B$1</c:f>
              <c:strCache>
                <c:ptCount val="1"/>
                <c:pt idx="0">
                  <c:v>kB</c:v>
                </c:pt>
              </c:strCache>
            </c:strRef>
          </c:tx>
          <c:spPr>
            <a:solidFill>
              <a:srgbClr val="2A9D8F"/>
            </a:solidFill>
            <a:effectLst/>
          </c:spPr>
          <c:invertIfNegative val="0"/>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E8871E"/>
              </a:solidFill>
              <a:effectLst/>
            </c:spPr>
          </c:dPt>
          <c:dPt>
            <c:idx val="2"/>
            <c:invertIfNegative val="0"/>
            <c:bubble3D val="0"/>
            <c:spPr>
              <a:solidFill>
                <a:srgbClr val="8A96A3"/>
              </a:solidFill>
              <a:effectLst/>
            </c:spPr>
          </c:dPt>
          <c:dPt>
            <c:idx val="3"/>
            <c:invertIfNegative val="0"/>
            <c:bubble3D val="0"/>
            <c:spPr>
              <a:solidFill>
                <a:srgbClr val="C44536"/>
              </a:solidFill>
              <a:effectLst/>
            </c:spPr>
          </c:dPt>
          <c:cat>
            <c:multiLvlStrRef>
              <c:f>Sheet1!$A$2:$A$5</c:f>
              <c:multiLvlStrCache>
                <c:ptCount val="4"/>
                <c:lvl>
                  <c:pt idx="0">
                    <c:v>JPEG, same quality</c:v>
                  </c:pt>
                  <c:pt idx="1">
                    <c:v>SVD k=100, float16</c:v>
                  </c:pt>
                  <c:pt idx="2">
                    <c:v>Raw 8-bit pixels</c:v>
                  </c:pt>
                  <c:pt idx="3">
                    <c:v>SVD k=100, float32</c:v>
                  </c:pt>
                </c:lvl>
              </c:multiLvlStrCache>
            </c:multiLvlStrRef>
          </c:cat>
          <c:val>
            <c:numRef>
              <c:f>Sheet1!$B$2:$B$5</c:f>
              <c:numCache>
                <c:formatCode>General</c:formatCode>
                <c:ptCount val="4"/>
                <c:pt idx="0">
                  <c:v>23.3</c:v>
                </c:pt>
                <c:pt idx="1">
                  <c:v>205</c:v>
                </c:pt>
                <c:pt idx="2">
                  <c:v>262.1</c:v>
                </c:pt>
                <c:pt idx="3">
                  <c:v>410</c:v>
                </c:pt>
              </c:numCache>
            </c:numRef>
          </c:val>
        </c:ser>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9B3BE"/>
                </a:solidFill>
                <a:latin typeface="+mn-lt"/>
              </a:defRPr>
            </a:pPr>
            <a:endParaRPr lang="en-US"/>
          </a:p>
        </c:txPr>
        <c:crossAx val="2094734552"/>
        <c:crosses val="autoZero"/>
        <c:auto val="1"/>
        <c:lblAlgn val="ctr"/>
        <c:noMultiLvlLbl val="1"/>
      </c:catAx>
      <c:valAx>
        <c:axId val="2094734552"/>
        <c:scaling>
          <c:orientation val="minMax"/>
          <c:max val="4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a large share of everything sent over the web, so every byte saved matters for bandwidth, page-load time and storage. A single 512 by 512 grayscale image is already over 2.6 lakh numbers, and in colour it is about 7.9 lakh. Our idea is to treat the image as a matrix and ask which parts of it carry the most information. The Singular Value Decomposition answers that exactly, and ranks the parts from most to least important — the bars on the left are those importance values for our test image, falling off very quickly. We test this on two standard 512 by 512 images, one grayscale and one colour, and measure what we save and what we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matrix A factors as U Sigma V-transpose. U and V are orthogonal, so their columns are clean row and column patterns, and Sigma holds the singular values in decreasing order. Equivalently, A is a weighted sum of rank-one layers, sigma-i times u-i times v-i transpose. On the right are the first three layers of our cameraman image: each is one column pattern times one row pattern, which is why they look like streaks. If we stop after k layers we get A-k, and it needs only k times (M plus N plus 1) numbers instead of M times N. The Eckart–Young–Mirsky theorem says this truncation is the best possible rank-k approximation in the Frobenius norm, and the squared error is exactly the sum of the squared singular values we dropped. So we can predict the error before reconstructing anything — our program verifies this identity on every run, to about 10 to the minus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grayscale case. The orange box on the cameraman is zoomed into the grid: those are the actual pixel values, a 6 by 6 piece of the 512 by 512 matrix, where 0 is black and 255 is white. One SVD of that matrix gives us everything. Storing rank k costs k times (M plus N plus 1) numbers, versus M times N for the raw pixels. On the right is colour. Matrix SVD needs two dimensions, so we split the 512 by 512 by 3 image into its red, green and blue planes, and decompose each one on its own. That triples storage and ignores the strong correlation between channels — at low rank the three channels lose different detail and stop agreeing, which shows up as false colours. Finally, the break-even: once k passes about 256, the truncated factors are no smaller than the image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grid from left to right; the top row is grayscale and the bottom row is colour. Under each picture is its quality in decibels and how many stored numbers we saved. With 5 layers we get only a silhouette made of horizontal and vertical bands — exactly the streaky layers from the previous slide — and in colour the channels disagree, giving the plaid of false colours. By 20 layers the subject is recognisable, but edges ring and the grass texture turns into noise. At 50 layers, which still saves 80 percent of the numbers, the image looks good at thumbnail size, with mild blur and ripples in the flat sky. At 100 layers it is hard to tell apart from the original on screen. [LIVE DEMO CUE] This is a good point to switch to the terminal and run: python svd_image_compression.py --gray photo.jpg --rgb photo.jpg --size 512 --out my_results, then open the new comparison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quality against the number of layers kept, for both images, with the dashed line at 30 decibels — roughly where an image looks good on screen. Quality never stops improving, but the curve bends: the first few layers buy a lot, later layers buy less and less. The table makes this concrete for the grayscale image. Two numbers to remember. First, energy is misleading: at k equal to 5 we keep 97 percent of the energy, yet the picture is unrecognisable at 20 decibels, because the first singular value is mostly just the average brightness. Second, the return per stored number collapses: from 0.30 decibels per thousand extra values early on, down to 0.08 between k of 50 and 100. MSE falls from about 650 to 34 over the same range; PSNR is just MSE on a log scale, 10 log base 10 of 255 squared over 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for previews and thumbnails, use k around 50 — about 10 percent of full rank. It stores 80 percent fewer numbers, gives roughly 27 to 29 decibels, and sits at the knee of the quality curve. For full-size viewing, pick the smallest k that meets a quality target such as 30 decibels; for our images that is k equal to 64 for grayscale and 72 for colour, which still saves over 70 percent of the stored numbers. But we also have to be honest about real bytes. Each SVD number is a real number, not a one-byte pixel. Stored as 32-bit floats, rank 100 is actually bigger than the original image; even 16-bit floats only save about 22 percent. JPEG reaches the same quality in 9 to 24 times fewer bytes, because it adds quantisation and entropy coding that plain SVD does not have. So SVD is the mathematically optimal low-rank image, and the theory predicted every error we measured — but it is not a competitive web format on its own. Where it shines is progressive loading, denoising, and as the idea behind real transform codecs.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518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777240"/>
            <a:ext cx="621792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188720"/>
            <a:ext cx="6217920" cy="17830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640080" y="3063240"/>
            <a:ext cx="6217920" cy="731520"/>
          </a:xfrm>
          <a:prstGeom prst="rect">
            <a:avLst/>
          </a:prstGeom>
          <a:noFill/>
          <a:ln/>
        </p:spPr>
        <p:txBody>
          <a:bodyPr wrap="square" rtlCol="0"/>
          <a:lstStyle>
            <a:lvl1pPr indent="0" marL="0">
              <a:buNone/>
              <a:defRPr lang="en-US" sz="1900" i="1" dirty="0">
                <a:solidFill>
                  <a:srgbClr val="A9B3BE"/>
                </a:solidFill>
              </a:defRPr>
            </a:lvl1pPr>
          </a:lstStyle>
          <a:p>
            <a:pPr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rgbClr val="8A96A3"/>
                </a:solidFill>
              </a:rPr>
              <a:t>MFAD Mini Project  ·  SVD and Image Compression</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DARK">
    <p:bg>
      <p:bgPr>
        <a:solidFill>
          <a:srgbClr val="1518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rgbClr val="A9B3BE"/>
                </a:solidFill>
              </a:rPr>
              <a:t>MFAD Mini Project  ·  SVD and Image Compression</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B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777240"/>
            <a:ext cx="6217920" cy="320040"/>
          </a:xfrm>
          <a:prstGeom prst="rect">
            <a:avLst/>
          </a:prstGeom>
          <a:noFill/>
          <a:ln/>
        </p:spPr>
        <p:txBody>
          <a:bodyPr wrap="square" lIns="0" tIns="0" rIns="0" bIns="0" rtlCol="0"/>
          <a:lstStyle/>
          <a:p>
            <a:pPr indent="0" marL="0">
              <a:buNone/>
            </a:pPr>
            <a:r>
              <a:rPr lang="en-US" sz="1300" b="1" spc="200" kern="0" dirty="0">
                <a:solidFill>
                  <a:schemeClr val="accent1"/>
                </a:solidFill>
              </a:rPr>
              <a:t>MFAD MINI PROJECT  ·  APPLIED LINEAR ALGEBRA</a:t>
            </a:r>
            <a:endParaRPr lang="en-US" sz="1300" dirty="0"/>
          </a:p>
        </p:txBody>
      </p:sp>
      <p:sp>
        <p:nvSpPr>
          <p:cNvPr id="3" name="Text 0"/>
          <p:cNvSpPr/>
          <p:nvPr>
            <p:ph idx="101" type="title" hasCustomPrompt="1"/>
          </p:nvPr>
        </p:nvSpPr>
        <p:spPr>
          <a:xfrm>
            <a:off x="640080" y="1188720"/>
            <a:ext cx="6217920" cy="17830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Compressing Images with Singular Value Decomposition</a:t>
            </a:r>
            <a:endParaRPr lang="en-US" sz="4000" dirty="0"/>
          </a:p>
        </p:txBody>
      </p:sp>
      <p:sp>
        <p:nvSpPr>
          <p:cNvPr id="4" name="Text 0"/>
          <p:cNvSpPr/>
          <p:nvPr>
            <p:ph idx="102" type="body" hasCustomPrompt="1"/>
          </p:nvPr>
        </p:nvSpPr>
        <p:spPr>
          <a:xfrm>
            <a:off x="640080" y="3063240"/>
            <a:ext cx="6217920" cy="731520"/>
          </a:xfrm>
          <a:prstGeom prst="rect">
            <a:avLst/>
          </a:prstGeom>
          <a:noFill/>
          <a:ln/>
        </p:spPr>
        <p:txBody>
          <a:bodyPr wrap="square" lIns="0" tIns="0" rIns="0" bIns="0" rtlCol="0" anchor="t"/>
          <a:lstStyle/>
          <a:p>
            <a:pPr indent="0" marL="0">
              <a:buNone/>
            </a:pPr>
            <a:r>
              <a:rPr lang="en-US" sz="1900" i="1" dirty="0">
                <a:solidFill>
                  <a:srgbClr val="A9B3BE"/>
                </a:solidFill>
              </a:rPr>
              <a:t>Bandwidth vs. storage: how much of an image can we throw away and still see it clearly?</a:t>
            </a:r>
            <a:endParaRPr lang="en-US" sz="1900" dirty="0"/>
          </a:p>
        </p:txBody>
      </p:sp>
      <p:sp>
        <p:nvSpPr>
          <p:cNvPr id="5" name="sigma bar 1"/>
          <p:cNvSpPr/>
          <p:nvPr/>
        </p:nvSpPr>
        <p:spPr>
          <a:xfrm>
            <a:off x="640080" y="4114800"/>
            <a:ext cx="109728" cy="1143000"/>
          </a:xfrm>
          <a:prstGeom prst="rect">
            <a:avLst/>
          </a:prstGeom>
          <a:solidFill>
            <a:schemeClr val="accent1"/>
          </a:solidFill>
          <a:ln/>
        </p:spPr>
      </p:sp>
      <p:sp>
        <p:nvSpPr>
          <p:cNvPr id="6" name="sigma bar 2"/>
          <p:cNvSpPr/>
          <p:nvPr/>
        </p:nvSpPr>
        <p:spPr>
          <a:xfrm>
            <a:off x="795528" y="4468678"/>
            <a:ext cx="109728" cy="789122"/>
          </a:xfrm>
          <a:prstGeom prst="rect">
            <a:avLst/>
          </a:prstGeom>
          <a:solidFill>
            <a:schemeClr val="accent1">
              <a:alpha val="98000"/>
            </a:schemeClr>
          </a:solidFill>
          <a:ln/>
        </p:spPr>
      </p:sp>
      <p:sp>
        <p:nvSpPr>
          <p:cNvPr id="7" name="sigma bar 3"/>
          <p:cNvSpPr/>
          <p:nvPr/>
        </p:nvSpPr>
        <p:spPr>
          <a:xfrm>
            <a:off x="950976" y="4530116"/>
            <a:ext cx="109728" cy="727684"/>
          </a:xfrm>
          <a:prstGeom prst="rect">
            <a:avLst/>
          </a:prstGeom>
          <a:solidFill>
            <a:schemeClr val="accent1">
              <a:alpha val="96000"/>
            </a:schemeClr>
          </a:solidFill>
          <a:ln/>
        </p:spPr>
      </p:sp>
      <p:sp>
        <p:nvSpPr>
          <p:cNvPr id="8" name="sigma bar 4"/>
          <p:cNvSpPr/>
          <p:nvPr/>
        </p:nvSpPr>
        <p:spPr>
          <a:xfrm>
            <a:off x="1106424" y="4631851"/>
            <a:ext cx="109728" cy="625949"/>
          </a:xfrm>
          <a:prstGeom prst="rect">
            <a:avLst/>
          </a:prstGeom>
          <a:solidFill>
            <a:schemeClr val="accent1">
              <a:alpha val="94000"/>
            </a:schemeClr>
          </a:solidFill>
          <a:ln/>
        </p:spPr>
      </p:sp>
      <p:sp>
        <p:nvSpPr>
          <p:cNvPr id="9" name="sigma bar 5"/>
          <p:cNvSpPr/>
          <p:nvPr/>
        </p:nvSpPr>
        <p:spPr>
          <a:xfrm>
            <a:off x="1261872" y="4733203"/>
            <a:ext cx="109728" cy="524597"/>
          </a:xfrm>
          <a:prstGeom prst="rect">
            <a:avLst/>
          </a:prstGeom>
          <a:solidFill>
            <a:schemeClr val="accent1">
              <a:alpha val="92000"/>
            </a:schemeClr>
          </a:solidFill>
          <a:ln/>
        </p:spPr>
      </p:sp>
      <p:sp>
        <p:nvSpPr>
          <p:cNvPr id="10" name="sigma bar 6"/>
          <p:cNvSpPr/>
          <p:nvPr/>
        </p:nvSpPr>
        <p:spPr>
          <a:xfrm>
            <a:off x="1417320" y="4807725"/>
            <a:ext cx="109728" cy="450075"/>
          </a:xfrm>
          <a:prstGeom prst="rect">
            <a:avLst/>
          </a:prstGeom>
          <a:solidFill>
            <a:schemeClr val="accent1">
              <a:alpha val="90000"/>
            </a:schemeClr>
          </a:solidFill>
          <a:ln/>
        </p:spPr>
      </p:sp>
      <p:sp>
        <p:nvSpPr>
          <p:cNvPr id="11" name="sigma bar 7"/>
          <p:cNvSpPr/>
          <p:nvPr/>
        </p:nvSpPr>
        <p:spPr>
          <a:xfrm>
            <a:off x="1572768" y="4846005"/>
            <a:ext cx="109728" cy="411795"/>
          </a:xfrm>
          <a:prstGeom prst="rect">
            <a:avLst/>
          </a:prstGeom>
          <a:solidFill>
            <a:schemeClr val="accent1">
              <a:alpha val="88000"/>
            </a:schemeClr>
          </a:solidFill>
          <a:ln/>
        </p:spPr>
      </p:sp>
      <p:sp>
        <p:nvSpPr>
          <p:cNvPr id="12" name="sigma bar 8"/>
          <p:cNvSpPr/>
          <p:nvPr/>
        </p:nvSpPr>
        <p:spPr>
          <a:xfrm>
            <a:off x="1728216" y="4863528"/>
            <a:ext cx="109728" cy="394272"/>
          </a:xfrm>
          <a:prstGeom prst="rect">
            <a:avLst/>
          </a:prstGeom>
          <a:solidFill>
            <a:schemeClr val="accent1">
              <a:alpha val="86000"/>
            </a:schemeClr>
          </a:solidFill>
          <a:ln/>
        </p:spPr>
      </p:sp>
      <p:sp>
        <p:nvSpPr>
          <p:cNvPr id="13" name="sigma bar 9"/>
          <p:cNvSpPr/>
          <p:nvPr/>
        </p:nvSpPr>
        <p:spPr>
          <a:xfrm>
            <a:off x="1883664" y="4868072"/>
            <a:ext cx="109728" cy="389728"/>
          </a:xfrm>
          <a:prstGeom prst="rect">
            <a:avLst/>
          </a:prstGeom>
          <a:solidFill>
            <a:schemeClr val="accent1">
              <a:alpha val="84000"/>
            </a:schemeClr>
          </a:solidFill>
          <a:ln/>
        </p:spPr>
      </p:sp>
      <p:sp>
        <p:nvSpPr>
          <p:cNvPr id="14" name="sigma bar 10"/>
          <p:cNvSpPr/>
          <p:nvPr/>
        </p:nvSpPr>
        <p:spPr>
          <a:xfrm>
            <a:off x="2039112" y="4897476"/>
            <a:ext cx="109728" cy="360324"/>
          </a:xfrm>
          <a:prstGeom prst="rect">
            <a:avLst/>
          </a:prstGeom>
          <a:solidFill>
            <a:schemeClr val="accent1">
              <a:alpha val="82000"/>
            </a:schemeClr>
          </a:solidFill>
          <a:ln/>
        </p:spPr>
      </p:sp>
      <p:sp>
        <p:nvSpPr>
          <p:cNvPr id="15" name="sigma bar 11"/>
          <p:cNvSpPr/>
          <p:nvPr/>
        </p:nvSpPr>
        <p:spPr>
          <a:xfrm>
            <a:off x="2194560" y="4924547"/>
            <a:ext cx="109728" cy="333253"/>
          </a:xfrm>
          <a:prstGeom prst="rect">
            <a:avLst/>
          </a:prstGeom>
          <a:solidFill>
            <a:schemeClr val="accent1">
              <a:alpha val="80000"/>
            </a:schemeClr>
          </a:solidFill>
          <a:ln/>
        </p:spPr>
      </p:sp>
      <p:sp>
        <p:nvSpPr>
          <p:cNvPr id="16" name="sigma bar 12"/>
          <p:cNvSpPr/>
          <p:nvPr/>
        </p:nvSpPr>
        <p:spPr>
          <a:xfrm>
            <a:off x="2350008" y="4933902"/>
            <a:ext cx="109728" cy="323898"/>
          </a:xfrm>
          <a:prstGeom prst="rect">
            <a:avLst/>
          </a:prstGeom>
          <a:solidFill>
            <a:schemeClr val="accent1">
              <a:alpha val="78000"/>
            </a:schemeClr>
          </a:solidFill>
          <a:ln/>
        </p:spPr>
      </p:sp>
      <p:sp>
        <p:nvSpPr>
          <p:cNvPr id="17" name="sigma bar 13"/>
          <p:cNvSpPr/>
          <p:nvPr/>
        </p:nvSpPr>
        <p:spPr>
          <a:xfrm>
            <a:off x="2505456" y="4945249"/>
            <a:ext cx="109728" cy="312551"/>
          </a:xfrm>
          <a:prstGeom prst="rect">
            <a:avLst/>
          </a:prstGeom>
          <a:solidFill>
            <a:schemeClr val="accent1">
              <a:alpha val="76000"/>
            </a:schemeClr>
          </a:solidFill>
          <a:ln/>
        </p:spPr>
      </p:sp>
      <p:sp>
        <p:nvSpPr>
          <p:cNvPr id="18" name="sigma bar 14"/>
          <p:cNvSpPr/>
          <p:nvPr/>
        </p:nvSpPr>
        <p:spPr>
          <a:xfrm>
            <a:off x="2660904" y="4977469"/>
            <a:ext cx="109728" cy="280331"/>
          </a:xfrm>
          <a:prstGeom prst="rect">
            <a:avLst/>
          </a:prstGeom>
          <a:solidFill>
            <a:schemeClr val="accent1">
              <a:alpha val="74000"/>
            </a:schemeClr>
          </a:solidFill>
          <a:ln/>
        </p:spPr>
      </p:sp>
      <p:sp>
        <p:nvSpPr>
          <p:cNvPr id="19" name="sigma bar 15"/>
          <p:cNvSpPr/>
          <p:nvPr/>
        </p:nvSpPr>
        <p:spPr>
          <a:xfrm>
            <a:off x="2816352" y="4989770"/>
            <a:ext cx="109728" cy="268030"/>
          </a:xfrm>
          <a:prstGeom prst="rect">
            <a:avLst/>
          </a:prstGeom>
          <a:solidFill>
            <a:schemeClr val="accent1">
              <a:alpha val="72000"/>
            </a:schemeClr>
          </a:solidFill>
          <a:ln/>
        </p:spPr>
      </p:sp>
      <p:sp>
        <p:nvSpPr>
          <p:cNvPr id="20" name="sigma bar 16"/>
          <p:cNvSpPr/>
          <p:nvPr/>
        </p:nvSpPr>
        <p:spPr>
          <a:xfrm>
            <a:off x="2971800" y="4993709"/>
            <a:ext cx="109728" cy="264091"/>
          </a:xfrm>
          <a:prstGeom prst="rect">
            <a:avLst/>
          </a:prstGeom>
          <a:solidFill>
            <a:schemeClr val="accent1">
              <a:alpha val="70000"/>
            </a:schemeClr>
          </a:solidFill>
          <a:ln/>
        </p:spPr>
      </p:sp>
      <p:sp>
        <p:nvSpPr>
          <p:cNvPr id="21" name="sigma bar 17"/>
          <p:cNvSpPr/>
          <p:nvPr/>
        </p:nvSpPr>
        <p:spPr>
          <a:xfrm>
            <a:off x="3127248" y="5022470"/>
            <a:ext cx="109728" cy="235330"/>
          </a:xfrm>
          <a:prstGeom prst="rect">
            <a:avLst/>
          </a:prstGeom>
          <a:solidFill>
            <a:schemeClr val="accent1">
              <a:alpha val="68000"/>
            </a:schemeClr>
          </a:solidFill>
          <a:ln/>
        </p:spPr>
      </p:sp>
      <p:sp>
        <p:nvSpPr>
          <p:cNvPr id="22" name="sigma bar 18"/>
          <p:cNvSpPr/>
          <p:nvPr/>
        </p:nvSpPr>
        <p:spPr>
          <a:xfrm>
            <a:off x="3282696" y="5027309"/>
            <a:ext cx="109728" cy="230491"/>
          </a:xfrm>
          <a:prstGeom prst="rect">
            <a:avLst/>
          </a:prstGeom>
          <a:solidFill>
            <a:schemeClr val="accent1">
              <a:alpha val="66000"/>
            </a:schemeClr>
          </a:solidFill>
          <a:ln/>
        </p:spPr>
      </p:sp>
      <p:sp>
        <p:nvSpPr>
          <p:cNvPr id="23" name="sigma bar 19"/>
          <p:cNvSpPr/>
          <p:nvPr/>
        </p:nvSpPr>
        <p:spPr>
          <a:xfrm>
            <a:off x="3438144" y="5039653"/>
            <a:ext cx="109728" cy="218147"/>
          </a:xfrm>
          <a:prstGeom prst="rect">
            <a:avLst/>
          </a:prstGeom>
          <a:solidFill>
            <a:schemeClr val="accent1">
              <a:alpha val="64000"/>
            </a:schemeClr>
          </a:solidFill>
          <a:ln/>
        </p:spPr>
      </p:sp>
      <p:sp>
        <p:nvSpPr>
          <p:cNvPr id="24" name="sigma bar 20"/>
          <p:cNvSpPr/>
          <p:nvPr/>
        </p:nvSpPr>
        <p:spPr>
          <a:xfrm>
            <a:off x="3593592" y="5043229"/>
            <a:ext cx="109728" cy="214571"/>
          </a:xfrm>
          <a:prstGeom prst="rect">
            <a:avLst/>
          </a:prstGeom>
          <a:solidFill>
            <a:schemeClr val="accent1">
              <a:alpha val="62000"/>
            </a:schemeClr>
          </a:solidFill>
          <a:ln/>
        </p:spPr>
      </p:sp>
      <p:sp>
        <p:nvSpPr>
          <p:cNvPr id="25" name="sigma bar 21"/>
          <p:cNvSpPr/>
          <p:nvPr/>
        </p:nvSpPr>
        <p:spPr>
          <a:xfrm>
            <a:off x="3749040" y="5047382"/>
            <a:ext cx="109728" cy="210418"/>
          </a:xfrm>
          <a:prstGeom prst="rect">
            <a:avLst/>
          </a:prstGeom>
          <a:solidFill>
            <a:schemeClr val="accent1">
              <a:alpha val="60000"/>
            </a:schemeClr>
          </a:solidFill>
          <a:ln/>
        </p:spPr>
      </p:sp>
      <p:sp>
        <p:nvSpPr>
          <p:cNvPr id="26" name="sigma bar 22"/>
          <p:cNvSpPr/>
          <p:nvPr/>
        </p:nvSpPr>
        <p:spPr>
          <a:xfrm>
            <a:off x="3904488" y="5060560"/>
            <a:ext cx="109728" cy="197240"/>
          </a:xfrm>
          <a:prstGeom prst="rect">
            <a:avLst/>
          </a:prstGeom>
          <a:solidFill>
            <a:schemeClr val="accent1">
              <a:alpha val="58000"/>
            </a:schemeClr>
          </a:solidFill>
          <a:ln/>
        </p:spPr>
      </p:sp>
      <p:sp>
        <p:nvSpPr>
          <p:cNvPr id="27" name="sigma bar 23"/>
          <p:cNvSpPr/>
          <p:nvPr/>
        </p:nvSpPr>
        <p:spPr>
          <a:xfrm>
            <a:off x="4059936" y="5068085"/>
            <a:ext cx="109728" cy="189715"/>
          </a:xfrm>
          <a:prstGeom prst="rect">
            <a:avLst/>
          </a:prstGeom>
          <a:solidFill>
            <a:schemeClr val="accent1">
              <a:alpha val="56000"/>
            </a:schemeClr>
          </a:solidFill>
          <a:ln/>
        </p:spPr>
      </p:sp>
      <p:sp>
        <p:nvSpPr>
          <p:cNvPr id="28" name="sigma bar 24"/>
          <p:cNvSpPr/>
          <p:nvPr/>
        </p:nvSpPr>
        <p:spPr>
          <a:xfrm>
            <a:off x="4215384" y="5075864"/>
            <a:ext cx="109728" cy="181936"/>
          </a:xfrm>
          <a:prstGeom prst="rect">
            <a:avLst/>
          </a:prstGeom>
          <a:solidFill>
            <a:schemeClr val="accent1">
              <a:alpha val="54000"/>
            </a:schemeClr>
          </a:solidFill>
          <a:ln/>
        </p:spPr>
      </p:sp>
      <p:sp>
        <p:nvSpPr>
          <p:cNvPr id="29" name="sigma bar 25"/>
          <p:cNvSpPr/>
          <p:nvPr/>
        </p:nvSpPr>
        <p:spPr>
          <a:xfrm>
            <a:off x="4370832" y="5081855"/>
            <a:ext cx="109728" cy="175945"/>
          </a:xfrm>
          <a:prstGeom prst="rect">
            <a:avLst/>
          </a:prstGeom>
          <a:solidFill>
            <a:schemeClr val="accent1">
              <a:alpha val="52000"/>
            </a:schemeClr>
          </a:solidFill>
          <a:ln/>
        </p:spPr>
      </p:sp>
      <p:sp>
        <p:nvSpPr>
          <p:cNvPr id="30" name="sigma bar 26"/>
          <p:cNvSpPr/>
          <p:nvPr/>
        </p:nvSpPr>
        <p:spPr>
          <a:xfrm>
            <a:off x="4526280" y="5098328"/>
            <a:ext cx="109728" cy="159472"/>
          </a:xfrm>
          <a:prstGeom prst="rect">
            <a:avLst/>
          </a:prstGeom>
          <a:solidFill>
            <a:schemeClr val="accent1">
              <a:alpha val="50000"/>
            </a:schemeClr>
          </a:solidFill>
          <a:ln/>
        </p:spPr>
      </p:sp>
      <p:sp>
        <p:nvSpPr>
          <p:cNvPr id="31" name="sigma bar 27"/>
          <p:cNvSpPr/>
          <p:nvPr/>
        </p:nvSpPr>
        <p:spPr>
          <a:xfrm>
            <a:off x="4681728" y="5111803"/>
            <a:ext cx="109728" cy="145997"/>
          </a:xfrm>
          <a:prstGeom prst="rect">
            <a:avLst/>
          </a:prstGeom>
          <a:solidFill>
            <a:schemeClr val="accent1">
              <a:alpha val="48000"/>
            </a:schemeClr>
          </a:solidFill>
          <a:ln/>
        </p:spPr>
      </p:sp>
      <p:sp>
        <p:nvSpPr>
          <p:cNvPr id="32" name="sigma bar 28"/>
          <p:cNvSpPr/>
          <p:nvPr/>
        </p:nvSpPr>
        <p:spPr>
          <a:xfrm>
            <a:off x="4837176" y="5120701"/>
            <a:ext cx="109728" cy="137099"/>
          </a:xfrm>
          <a:prstGeom prst="rect">
            <a:avLst/>
          </a:prstGeom>
          <a:solidFill>
            <a:schemeClr val="accent1">
              <a:alpha val="46000"/>
            </a:schemeClr>
          </a:solidFill>
          <a:ln/>
        </p:spPr>
      </p:sp>
      <p:sp>
        <p:nvSpPr>
          <p:cNvPr id="33" name="sigma bar 29"/>
          <p:cNvSpPr/>
          <p:nvPr/>
        </p:nvSpPr>
        <p:spPr>
          <a:xfrm>
            <a:off x="4992624" y="5128573"/>
            <a:ext cx="109728" cy="129227"/>
          </a:xfrm>
          <a:prstGeom prst="rect">
            <a:avLst/>
          </a:prstGeom>
          <a:solidFill>
            <a:schemeClr val="accent1">
              <a:alpha val="44000"/>
            </a:schemeClr>
          </a:solidFill>
          <a:ln/>
        </p:spPr>
      </p:sp>
      <p:sp>
        <p:nvSpPr>
          <p:cNvPr id="34" name="sigma bar 30"/>
          <p:cNvSpPr/>
          <p:nvPr/>
        </p:nvSpPr>
        <p:spPr>
          <a:xfrm>
            <a:off x="5148072" y="5141003"/>
            <a:ext cx="109728" cy="116797"/>
          </a:xfrm>
          <a:prstGeom prst="rect">
            <a:avLst/>
          </a:prstGeom>
          <a:solidFill>
            <a:schemeClr val="accent1">
              <a:alpha val="42000"/>
            </a:schemeClr>
          </a:solidFill>
          <a:ln/>
        </p:spPr>
      </p:sp>
      <p:sp>
        <p:nvSpPr>
          <p:cNvPr id="35" name="sigma bar 31"/>
          <p:cNvSpPr/>
          <p:nvPr/>
        </p:nvSpPr>
        <p:spPr>
          <a:xfrm>
            <a:off x="5303520" y="5144039"/>
            <a:ext cx="109728" cy="113761"/>
          </a:xfrm>
          <a:prstGeom prst="rect">
            <a:avLst/>
          </a:prstGeom>
          <a:solidFill>
            <a:schemeClr val="accent1">
              <a:alpha val="40000"/>
            </a:schemeClr>
          </a:solidFill>
          <a:ln/>
        </p:spPr>
      </p:sp>
      <p:sp>
        <p:nvSpPr>
          <p:cNvPr id="36" name="sigma bar 32"/>
          <p:cNvSpPr/>
          <p:nvPr/>
        </p:nvSpPr>
        <p:spPr>
          <a:xfrm>
            <a:off x="5458968" y="5157487"/>
            <a:ext cx="109728" cy="100313"/>
          </a:xfrm>
          <a:prstGeom prst="rect">
            <a:avLst/>
          </a:prstGeom>
          <a:solidFill>
            <a:schemeClr val="accent1">
              <a:alpha val="38000"/>
            </a:schemeClr>
          </a:solidFill>
          <a:ln/>
        </p:spPr>
      </p:sp>
      <p:sp>
        <p:nvSpPr>
          <p:cNvPr id="37" name="sigma bar 33"/>
          <p:cNvSpPr/>
          <p:nvPr/>
        </p:nvSpPr>
        <p:spPr>
          <a:xfrm>
            <a:off x="5614416" y="5160103"/>
            <a:ext cx="109728" cy="97697"/>
          </a:xfrm>
          <a:prstGeom prst="rect">
            <a:avLst/>
          </a:prstGeom>
          <a:solidFill>
            <a:schemeClr val="accent1">
              <a:alpha val="36000"/>
            </a:schemeClr>
          </a:solidFill>
          <a:ln/>
        </p:spPr>
      </p:sp>
      <p:sp>
        <p:nvSpPr>
          <p:cNvPr id="38" name="sigma bar 34"/>
          <p:cNvSpPr/>
          <p:nvPr/>
        </p:nvSpPr>
        <p:spPr>
          <a:xfrm>
            <a:off x="5769864" y="5164663"/>
            <a:ext cx="109728" cy="93137"/>
          </a:xfrm>
          <a:prstGeom prst="rect">
            <a:avLst/>
          </a:prstGeom>
          <a:solidFill>
            <a:schemeClr val="accent1">
              <a:alpha val="34000"/>
            </a:schemeClr>
          </a:solidFill>
          <a:ln/>
        </p:spPr>
      </p:sp>
      <p:sp>
        <p:nvSpPr>
          <p:cNvPr id="39" name="sigma bar 35"/>
          <p:cNvSpPr/>
          <p:nvPr/>
        </p:nvSpPr>
        <p:spPr>
          <a:xfrm>
            <a:off x="5925312" y="5171844"/>
            <a:ext cx="109728" cy="85956"/>
          </a:xfrm>
          <a:prstGeom prst="rect">
            <a:avLst/>
          </a:prstGeom>
          <a:solidFill>
            <a:schemeClr val="accent1">
              <a:alpha val="32000"/>
            </a:schemeClr>
          </a:solidFill>
          <a:ln/>
        </p:spPr>
      </p:sp>
      <p:sp>
        <p:nvSpPr>
          <p:cNvPr id="40" name="sigma bar 36"/>
          <p:cNvSpPr/>
          <p:nvPr/>
        </p:nvSpPr>
        <p:spPr>
          <a:xfrm>
            <a:off x="6080760" y="5176949"/>
            <a:ext cx="109728" cy="80851"/>
          </a:xfrm>
          <a:prstGeom prst="rect">
            <a:avLst/>
          </a:prstGeom>
          <a:solidFill>
            <a:schemeClr val="accent1">
              <a:alpha val="30000"/>
            </a:schemeClr>
          </a:solidFill>
          <a:ln/>
        </p:spPr>
      </p:sp>
      <p:sp>
        <p:nvSpPr>
          <p:cNvPr id="41" name="sigma bar 37"/>
          <p:cNvSpPr/>
          <p:nvPr/>
        </p:nvSpPr>
        <p:spPr>
          <a:xfrm>
            <a:off x="6236208" y="5188755"/>
            <a:ext cx="109728" cy="69045"/>
          </a:xfrm>
          <a:prstGeom prst="rect">
            <a:avLst/>
          </a:prstGeom>
          <a:solidFill>
            <a:schemeClr val="accent1">
              <a:alpha val="30000"/>
            </a:schemeClr>
          </a:solidFill>
          <a:ln/>
        </p:spPr>
      </p:sp>
      <p:sp>
        <p:nvSpPr>
          <p:cNvPr id="42" name="sigma bar 38"/>
          <p:cNvSpPr/>
          <p:nvPr/>
        </p:nvSpPr>
        <p:spPr>
          <a:xfrm>
            <a:off x="6391656" y="5194462"/>
            <a:ext cx="109728" cy="63338"/>
          </a:xfrm>
          <a:prstGeom prst="rect">
            <a:avLst/>
          </a:prstGeom>
          <a:solidFill>
            <a:schemeClr val="accent1">
              <a:alpha val="30000"/>
            </a:schemeClr>
          </a:solidFill>
          <a:ln/>
        </p:spPr>
      </p:sp>
      <p:sp>
        <p:nvSpPr>
          <p:cNvPr id="43" name="sigma bar 39"/>
          <p:cNvSpPr/>
          <p:nvPr/>
        </p:nvSpPr>
        <p:spPr>
          <a:xfrm>
            <a:off x="6547104" y="5200033"/>
            <a:ext cx="109728" cy="57767"/>
          </a:xfrm>
          <a:prstGeom prst="rect">
            <a:avLst/>
          </a:prstGeom>
          <a:solidFill>
            <a:schemeClr val="accent1">
              <a:alpha val="30000"/>
            </a:schemeClr>
          </a:solidFill>
          <a:ln/>
        </p:spPr>
      </p:sp>
      <p:sp>
        <p:nvSpPr>
          <p:cNvPr id="44" name="sigma bar 40"/>
          <p:cNvSpPr/>
          <p:nvPr/>
        </p:nvSpPr>
        <p:spPr>
          <a:xfrm>
            <a:off x="6702552" y="5202922"/>
            <a:ext cx="109728" cy="54878"/>
          </a:xfrm>
          <a:prstGeom prst="rect">
            <a:avLst/>
          </a:prstGeom>
          <a:solidFill>
            <a:schemeClr val="accent1">
              <a:alpha val="30000"/>
            </a:schemeClr>
          </a:solidFill>
          <a:ln/>
        </p:spPr>
      </p:sp>
      <p:sp>
        <p:nvSpPr>
          <p:cNvPr id="45" name="spectrum caption"/>
          <p:cNvSpPr txBox="1"/>
          <p:nvPr/>
        </p:nvSpPr>
        <p:spPr>
          <a:xfrm>
            <a:off x="640080" y="5349240"/>
            <a:ext cx="6217920" cy="274320"/>
          </a:xfrm>
          <a:prstGeom prst="rect">
            <a:avLst/>
          </a:prstGeom>
          <a:noFill/>
          <a:ln/>
        </p:spPr>
        <p:txBody>
          <a:bodyPr wrap="square" lIns="0" tIns="0" rIns="0" bIns="0" rtlCol="0" anchor="ctr"/>
          <a:lstStyle/>
          <a:p>
            <a:pPr indent="0" marL="0">
              <a:buNone/>
            </a:pPr>
            <a:r>
              <a:rPr lang="en-US" sz="1100" dirty="0">
                <a:solidFill>
                  <a:srgbClr val="A9B3BE"/>
                </a:solidFill>
              </a:rPr>
              <a:t>The cameraman image's 40 largest singular values (log scale): a few layers carry most of the picture</a:t>
            </a:r>
            <a:endParaRPr lang="en-US" sz="1100" dirty="0"/>
          </a:p>
        </p:txBody>
      </p:sp>
      <p:sp>
        <p:nvSpPr>
          <p:cNvPr id="46" name="team line"/>
          <p:cNvSpPr txBox="1"/>
          <p:nvPr/>
        </p:nvSpPr>
        <p:spPr>
          <a:xfrm>
            <a:off x="640080" y="5989320"/>
            <a:ext cx="6217920" cy="320040"/>
          </a:xfrm>
          <a:prstGeom prst="rect">
            <a:avLst/>
          </a:prstGeom>
          <a:noFill/>
          <a:ln/>
        </p:spPr>
        <p:txBody>
          <a:bodyPr wrap="square" lIns="0" tIns="0" rIns="0" bIns="0" rtlCol="0" anchor="ctr"/>
          <a:lstStyle/>
          <a:p>
            <a:pPr indent="0" marL="0">
              <a:buNone/>
            </a:pPr>
            <a:r>
              <a:rPr lang="en-US" sz="1400" dirty="0">
                <a:solidFill>
                  <a:schemeClr val="bg1"/>
                </a:solidFill>
              </a:rPr>
              <a:t>Team: add member names and USNs here</a:t>
            </a:r>
            <a:endParaRPr lang="en-US" sz="1400" dirty="0"/>
          </a:p>
        </p:txBody>
      </p:sp>
      <p:sp>
        <p:nvSpPr>
          <p:cNvPr id="47" name="gray count card"/>
          <p:cNvSpPr/>
          <p:nvPr/>
        </p:nvSpPr>
        <p:spPr>
          <a:xfrm>
            <a:off x="7360920" y="777240"/>
            <a:ext cx="4206240" cy="1325880"/>
          </a:xfrm>
          <a:prstGeom prst="roundRect">
            <a:avLst>
              <a:gd name="adj" fmla="val 8276"/>
            </a:avLst>
          </a:prstGeom>
          <a:solidFill>
            <a:srgbClr val="2B3440"/>
          </a:solidFill>
          <a:ln/>
        </p:spPr>
      </p:sp>
      <p:sp>
        <p:nvSpPr>
          <p:cNvPr id="48" name="gray count number"/>
          <p:cNvSpPr txBox="1"/>
          <p:nvPr/>
        </p:nvSpPr>
        <p:spPr>
          <a:xfrm>
            <a:off x="7635240" y="914400"/>
            <a:ext cx="37490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262,144</a:t>
            </a:r>
            <a:endParaRPr lang="en-US" sz="4000" dirty="0"/>
          </a:p>
        </p:txBody>
      </p:sp>
      <p:sp>
        <p:nvSpPr>
          <p:cNvPr id="49" name="gray count label"/>
          <p:cNvSpPr txBox="1"/>
          <p:nvPr/>
        </p:nvSpPr>
        <p:spPr>
          <a:xfrm>
            <a:off x="7635240" y="1581912"/>
            <a:ext cx="3749040" cy="411480"/>
          </a:xfrm>
          <a:prstGeom prst="rect">
            <a:avLst/>
          </a:prstGeom>
          <a:noFill/>
          <a:ln/>
        </p:spPr>
        <p:txBody>
          <a:bodyPr wrap="square" lIns="0" tIns="0" rIns="0" bIns="0" rtlCol="0" anchor="ctr"/>
          <a:lstStyle/>
          <a:p>
            <a:pPr indent="0" marL="0">
              <a:buNone/>
            </a:pPr>
            <a:r>
              <a:rPr lang="en-US" sz="1400" dirty="0">
                <a:solidFill>
                  <a:schemeClr val="bg1"/>
                </a:solidFill>
              </a:rPr>
              <a:t>numbers in one 512 × 512 grayscale image</a:t>
            </a:r>
            <a:endParaRPr lang="en-US" sz="1400" dirty="0"/>
          </a:p>
        </p:txBody>
      </p:sp>
      <p:sp>
        <p:nvSpPr>
          <p:cNvPr id="50" name="rgb count card"/>
          <p:cNvSpPr/>
          <p:nvPr/>
        </p:nvSpPr>
        <p:spPr>
          <a:xfrm>
            <a:off x="7360920" y="2286000"/>
            <a:ext cx="4206240" cy="1325880"/>
          </a:xfrm>
          <a:prstGeom prst="roundRect">
            <a:avLst>
              <a:gd name="adj" fmla="val 8276"/>
            </a:avLst>
          </a:prstGeom>
          <a:solidFill>
            <a:srgbClr val="2B3440"/>
          </a:solidFill>
          <a:ln/>
        </p:spPr>
      </p:sp>
      <p:sp>
        <p:nvSpPr>
          <p:cNvPr id="51" name="rgb count number"/>
          <p:cNvSpPr txBox="1"/>
          <p:nvPr/>
        </p:nvSpPr>
        <p:spPr>
          <a:xfrm>
            <a:off x="7635240" y="2423160"/>
            <a:ext cx="37490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786,432</a:t>
            </a:r>
            <a:endParaRPr lang="en-US" sz="4000" dirty="0"/>
          </a:p>
        </p:txBody>
      </p:sp>
      <p:sp>
        <p:nvSpPr>
          <p:cNvPr id="52" name="rgb count label"/>
          <p:cNvSpPr txBox="1"/>
          <p:nvPr/>
        </p:nvSpPr>
        <p:spPr>
          <a:xfrm>
            <a:off x="7635240" y="3090672"/>
            <a:ext cx="3749040" cy="411480"/>
          </a:xfrm>
          <a:prstGeom prst="rect">
            <a:avLst/>
          </a:prstGeom>
          <a:noFill/>
          <a:ln/>
        </p:spPr>
        <p:txBody>
          <a:bodyPr wrap="square" lIns="0" tIns="0" rIns="0" bIns="0" rtlCol="0" anchor="ctr"/>
          <a:lstStyle/>
          <a:p>
            <a:pPr indent="0" marL="0">
              <a:buNone/>
            </a:pPr>
            <a:r>
              <a:rPr lang="en-US" sz="1400" dirty="0">
                <a:solidFill>
                  <a:schemeClr val="bg1"/>
                </a:solidFill>
              </a:rPr>
              <a:t>numbers in the same size image in colour (R, G, B)</a:t>
            </a:r>
            <a:endParaRPr lang="en-US" sz="1400" dirty="0"/>
          </a:p>
        </p:txBody>
      </p:sp>
      <p:sp>
        <p:nvSpPr>
          <p:cNvPr id="53" name="question card"/>
          <p:cNvSpPr/>
          <p:nvPr/>
        </p:nvSpPr>
        <p:spPr>
          <a:xfrm>
            <a:off x="7360920" y="3794760"/>
            <a:ext cx="4206240" cy="1463040"/>
          </a:xfrm>
          <a:prstGeom prst="roundRect">
            <a:avLst>
              <a:gd name="adj" fmla="val 7500"/>
            </a:avLst>
          </a:prstGeom>
          <a:solidFill>
            <a:srgbClr val="2B3440"/>
          </a:solidFill>
          <a:ln/>
        </p:spPr>
      </p:sp>
      <p:sp>
        <p:nvSpPr>
          <p:cNvPr id="54" name="question text"/>
          <p:cNvSpPr txBox="1"/>
          <p:nvPr/>
        </p:nvSpPr>
        <p:spPr>
          <a:xfrm>
            <a:off x="7635240" y="3931920"/>
            <a:ext cx="3749040" cy="123444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The question</a:t>
            </a:r>
            <a:endParaRPr lang="en-US" sz="1400" dirty="0"/>
          </a:p>
          <a:p>
            <a:pPr indent="0" marL="0">
              <a:spcAft>
                <a:spcPts val="600"/>
              </a:spcAft>
              <a:buNone/>
            </a:pPr>
            <a:r>
              <a:rPr lang="en-US" sz="1500" dirty="0">
                <a:solidFill>
                  <a:schemeClr val="bg1"/>
                </a:solidFill>
              </a:rPr>
              <a:t>Keep only the k most important layers of the image matrix. How small can k be before the picture falls apart, and what do we really save?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SVD FOUNDATIONS  ·  TRUNCATED RANK-k APPROXIMATION</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SVD writes an image as a sum of rank-1 layers, best first</a:t>
            </a:r>
            <a:endParaRPr lang="en-US" sz="3000" dirty="0"/>
          </a:p>
        </p:txBody>
      </p:sp>
      <p:sp>
        <p:nvSpPr>
          <p:cNvPr id="4" name="step 1 chip"/>
          <p:cNvSpPr/>
          <p:nvPr/>
        </p:nvSpPr>
        <p:spPr>
          <a:xfrm>
            <a:off x="548640" y="1554480"/>
            <a:ext cx="384048" cy="384048"/>
          </a:xfrm>
          <a:prstGeom prst="ellipse">
            <a:avLst/>
          </a:prstGeom>
          <a:solidFill>
            <a:schemeClr val="accent1"/>
          </a:solidFill>
          <a:ln/>
        </p:spPr>
      </p:sp>
      <p:sp>
        <p:nvSpPr>
          <p:cNvPr id="5" name="step 1 chip text"/>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 1 label"/>
          <p:cNvSpPr txBox="1"/>
          <p:nvPr/>
        </p:nvSpPr>
        <p:spPr>
          <a:xfrm>
            <a:off x="1097280" y="1554480"/>
            <a:ext cx="4754880" cy="384048"/>
          </a:xfrm>
          <a:prstGeom prst="rect">
            <a:avLst/>
          </a:prstGeom>
          <a:noFill/>
          <a:ln/>
        </p:spPr>
        <p:txBody>
          <a:bodyPr wrap="square" lIns="0" tIns="0" rIns="0" bIns="0" rtlCol="0" anchor="ctr"/>
          <a:lstStyle/>
          <a:p>
            <a:pPr indent="0" marL="0">
              <a:buNone/>
            </a:pPr>
            <a:r>
              <a:rPr lang="en-US" sz="1600" b="1" dirty="0">
                <a:solidFill>
                  <a:schemeClr val="tx1"/>
                </a:solidFill>
              </a:rPr>
              <a:t>Decompose: U, V orthogonal, σ₁ ≥ σ₂ ≥ … ≥ 0</a:t>
            </a:r>
            <a:endParaRPr lang="en-US" sz="1600" dirty="0"/>
          </a:p>
        </p:txBody>
      </p:sp>
      <p:pic>
        <p:nvPicPr>
          <p:cNvPr id="7" name="eq_svd" descr="assets/eq_svd.png">    </p:cNvPr>
          <p:cNvPicPr>
            <a:picLocks noChangeAspect="1"/>
          </p:cNvPicPr>
          <p:nvPr/>
        </p:nvPicPr>
        <p:blipFill>
          <a:blip r:embed="rId1"/>
          <a:stretch>
            <a:fillRect/>
          </a:stretch>
        </p:blipFill>
        <p:spPr>
          <a:xfrm>
            <a:off x="1097280" y="2011680"/>
            <a:ext cx="2884261" cy="757306"/>
          </a:xfrm>
          <a:prstGeom prst="rect">
            <a:avLst/>
          </a:prstGeom>
        </p:spPr>
      </p:pic>
      <p:sp>
        <p:nvSpPr>
          <p:cNvPr id="8" name="step 2 chip"/>
          <p:cNvSpPr/>
          <p:nvPr/>
        </p:nvSpPr>
        <p:spPr>
          <a:xfrm>
            <a:off x="548640" y="3154680"/>
            <a:ext cx="384048" cy="384048"/>
          </a:xfrm>
          <a:prstGeom prst="ellipse">
            <a:avLst/>
          </a:prstGeom>
          <a:solidFill>
            <a:schemeClr val="accent1"/>
          </a:solidFill>
          <a:ln/>
        </p:spPr>
      </p:sp>
      <p:sp>
        <p:nvSpPr>
          <p:cNvPr id="9" name="step 2 chip text"/>
          <p:cNvSpPr txBox="1"/>
          <p:nvPr/>
        </p:nvSpPr>
        <p:spPr>
          <a:xfrm>
            <a:off x="548640" y="3154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step 2 label"/>
          <p:cNvSpPr txBox="1"/>
          <p:nvPr/>
        </p:nvSpPr>
        <p:spPr>
          <a:xfrm>
            <a:off x="1097280" y="3154680"/>
            <a:ext cx="4754880" cy="384048"/>
          </a:xfrm>
          <a:prstGeom prst="rect">
            <a:avLst/>
          </a:prstGeom>
          <a:noFill/>
          <a:ln/>
        </p:spPr>
        <p:txBody>
          <a:bodyPr wrap="square" lIns="0" tIns="0" rIns="0" bIns="0" rtlCol="0" anchor="ctr"/>
          <a:lstStyle/>
          <a:p>
            <a:pPr indent="0" marL="0">
              <a:buNone/>
            </a:pPr>
            <a:r>
              <a:rPr lang="en-US" sz="1600" b="1" dirty="0">
                <a:solidFill>
                  <a:schemeClr val="tx1"/>
                </a:solidFill>
              </a:rPr>
              <a:t>Truncate: keep only the first k layers</a:t>
            </a:r>
            <a:endParaRPr lang="en-US" sz="1600" dirty="0"/>
          </a:p>
        </p:txBody>
      </p:sp>
      <p:pic>
        <p:nvPicPr>
          <p:cNvPr id="11" name="eq_trunc" descr="assets/eq_trunc.png">    </p:cNvPr>
          <p:cNvPicPr>
            <a:picLocks noChangeAspect="1"/>
          </p:cNvPicPr>
          <p:nvPr/>
        </p:nvPicPr>
        <p:blipFill>
          <a:blip r:embed="rId2"/>
          <a:stretch>
            <a:fillRect/>
          </a:stretch>
        </p:blipFill>
        <p:spPr>
          <a:xfrm>
            <a:off x="1097280" y="3611880"/>
            <a:ext cx="1882018" cy="804794"/>
          </a:xfrm>
          <a:prstGeom prst="rect">
            <a:avLst/>
          </a:prstGeom>
        </p:spPr>
      </p:pic>
      <p:sp>
        <p:nvSpPr>
          <p:cNvPr id="12" name="step 3 chip"/>
          <p:cNvSpPr/>
          <p:nvPr/>
        </p:nvSpPr>
        <p:spPr>
          <a:xfrm>
            <a:off x="548640" y="4754880"/>
            <a:ext cx="384048" cy="384048"/>
          </a:xfrm>
          <a:prstGeom prst="ellipse">
            <a:avLst/>
          </a:prstGeom>
          <a:solidFill>
            <a:schemeClr val="accent1"/>
          </a:solidFill>
          <a:ln/>
        </p:spPr>
      </p:sp>
      <p:sp>
        <p:nvSpPr>
          <p:cNvPr id="13" name="step 3 chip text"/>
          <p:cNvSpPr txBox="1"/>
          <p:nvPr/>
        </p:nvSpPr>
        <p:spPr>
          <a:xfrm>
            <a:off x="548640" y="4754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step 3 label"/>
          <p:cNvSpPr txBox="1"/>
          <p:nvPr/>
        </p:nvSpPr>
        <p:spPr>
          <a:xfrm>
            <a:off x="1097280" y="4754880"/>
            <a:ext cx="4754880" cy="384048"/>
          </a:xfrm>
          <a:prstGeom prst="rect">
            <a:avLst/>
          </a:prstGeom>
          <a:noFill/>
          <a:ln/>
        </p:spPr>
        <p:txBody>
          <a:bodyPr wrap="square" lIns="0" tIns="0" rIns="0" bIns="0" rtlCol="0" anchor="ctr"/>
          <a:lstStyle/>
          <a:p>
            <a:pPr indent="0" marL="0">
              <a:buNone/>
            </a:pPr>
            <a:r>
              <a:rPr lang="en-US" sz="1600" b="1" dirty="0">
                <a:solidFill>
                  <a:schemeClr val="tx1"/>
                </a:solidFill>
              </a:rPr>
              <a:t>Eckart–Young–Mirsky: no rank-k matrix B is closer</a:t>
            </a:r>
            <a:endParaRPr lang="en-US" sz="1600" dirty="0"/>
          </a:p>
        </p:txBody>
      </p:sp>
      <p:pic>
        <p:nvPicPr>
          <p:cNvPr id="15" name="eq_ey" descr="assets/eq_ey.png">    </p:cNvPr>
          <p:cNvPicPr>
            <a:picLocks noChangeAspect="1"/>
          </p:cNvPicPr>
          <p:nvPr/>
        </p:nvPicPr>
        <p:blipFill>
          <a:blip r:embed="rId3"/>
          <a:stretch>
            <a:fillRect/>
          </a:stretch>
        </p:blipFill>
        <p:spPr>
          <a:xfrm>
            <a:off x="1097280" y="5212080"/>
            <a:ext cx="3933993" cy="629839"/>
          </a:xfrm>
          <a:prstGeom prst="rect">
            <a:avLst/>
          </a:prstGeom>
        </p:spPr>
      </p:pic>
      <p:sp>
        <p:nvSpPr>
          <p:cNvPr id="16" name="layers card"/>
          <p:cNvSpPr/>
          <p:nvPr/>
        </p:nvSpPr>
        <p:spPr>
          <a:xfrm>
            <a:off x="6400800" y="1554480"/>
            <a:ext cx="5239512" cy="4617720"/>
          </a:xfrm>
          <a:prstGeom prst="roundRect">
            <a:avLst>
              <a:gd name="adj" fmla="val 2376"/>
            </a:avLst>
          </a:prstGeom>
          <a:solidFill>
            <a:srgbClr val="F1F3F5"/>
          </a:solidFill>
          <a:ln/>
        </p:spPr>
      </p:sp>
      <p:sp>
        <p:nvSpPr>
          <p:cNvPr id="17" name="layers heading"/>
          <p:cNvSpPr txBox="1"/>
          <p:nvPr/>
        </p:nvSpPr>
        <p:spPr>
          <a:xfrm>
            <a:off x="6675120" y="1691640"/>
            <a:ext cx="4754880" cy="320040"/>
          </a:xfrm>
          <a:prstGeom prst="rect">
            <a:avLst/>
          </a:prstGeom>
          <a:noFill/>
          <a:ln/>
        </p:spPr>
        <p:txBody>
          <a:bodyPr wrap="square" lIns="0" tIns="0" rIns="0" bIns="0" rtlCol="0" anchor="ctr"/>
          <a:lstStyle/>
          <a:p>
            <a:pPr indent="0" marL="0">
              <a:buNone/>
            </a:pPr>
            <a:r>
              <a:rPr lang="en-US" sz="1500" b="1" dirty="0">
                <a:solidFill>
                  <a:schemeClr val="tx1"/>
                </a:solidFill>
              </a:rPr>
              <a:t>The first three layers of the cameraman image</a:t>
            </a:r>
            <a:endParaRPr lang="en-US" sz="1500" dirty="0"/>
          </a:p>
        </p:txBody>
      </p:sp>
      <p:pic>
        <p:nvPicPr>
          <p:cNvPr id="18" name="layer 1 image" descr="assets/layer1.png">    </p:cNvPr>
          <p:cNvPicPr>
            <a:picLocks noChangeAspect="1"/>
          </p:cNvPicPr>
          <p:nvPr/>
        </p:nvPicPr>
        <p:blipFill>
          <a:blip r:embed="rId4"/>
          <a:stretch>
            <a:fillRect/>
          </a:stretch>
        </p:blipFill>
        <p:spPr>
          <a:xfrm>
            <a:off x="6675120" y="2194560"/>
            <a:ext cx="1280160" cy="1280160"/>
          </a:xfrm>
          <a:prstGeom prst="rect">
            <a:avLst/>
          </a:prstGeom>
        </p:spPr>
      </p:pic>
      <p:sp>
        <p:nvSpPr>
          <p:cNvPr id="19" name="layer 1 label"/>
          <p:cNvSpPr txBox="1"/>
          <p:nvPr/>
        </p:nvSpPr>
        <p:spPr>
          <a:xfrm>
            <a:off x="6675120" y="3547872"/>
            <a:ext cx="1280160" cy="502920"/>
          </a:xfrm>
          <a:prstGeom prst="rect">
            <a:avLst/>
          </a:prstGeom>
          <a:noFill/>
          <a:ln/>
        </p:spPr>
        <p:txBody>
          <a:bodyPr wrap="square" lIns="0" tIns="0" rIns="0" bIns="0" rtlCol="0" anchor="ctr"/>
          <a:lstStyle/>
          <a:p>
            <a:pPr algn="ctr" indent="0" marL="0">
              <a:buNone/>
            </a:pPr>
            <a:r>
              <a:rPr lang="en-US" sz="1200" b="1" dirty="0">
                <a:solidFill>
                  <a:schemeClr val="tx1"/>
                </a:solidFill>
              </a:rPr>
              <a:t>σ₁u₁v₁ᵀ</a:t>
            </a:r>
            <a:endParaRPr lang="en-US" sz="1200" dirty="0"/>
          </a:p>
          <a:p>
            <a:pPr algn="ctr" indent="0" marL="0">
              <a:buNone/>
            </a:pPr>
            <a:r>
              <a:rPr lang="en-US" sz="1200" dirty="0">
                <a:solidFill>
                  <a:schemeClr val="accent3"/>
                </a:solidFill>
              </a:rPr>
              <a:t>σ₁/σ₁ = 1.00</a:t>
            </a:r>
            <a:endParaRPr lang="en-US" sz="1200" dirty="0"/>
          </a:p>
        </p:txBody>
      </p:sp>
      <p:sp>
        <p:nvSpPr>
          <p:cNvPr id="20" name="Text 14"/>
          <p:cNvSpPr txBox="1"/>
          <p:nvPr/>
        </p:nvSpPr>
        <p:spPr>
          <a:xfrm>
            <a:off x="7955280" y="2651760"/>
            <a:ext cx="292608" cy="36576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pic>
        <p:nvPicPr>
          <p:cNvPr id="21" name="layer 2 image" descr="assets/layer2.png">    </p:cNvPr>
          <p:cNvPicPr>
            <a:picLocks noChangeAspect="1"/>
          </p:cNvPicPr>
          <p:nvPr/>
        </p:nvPicPr>
        <p:blipFill>
          <a:blip r:embed="rId5"/>
          <a:stretch>
            <a:fillRect/>
          </a:stretch>
        </p:blipFill>
        <p:spPr>
          <a:xfrm>
            <a:off x="8247888" y="2194560"/>
            <a:ext cx="1280160" cy="1280160"/>
          </a:xfrm>
          <a:prstGeom prst="rect">
            <a:avLst/>
          </a:prstGeom>
        </p:spPr>
      </p:pic>
      <p:sp>
        <p:nvSpPr>
          <p:cNvPr id="22" name="layer 2 label"/>
          <p:cNvSpPr txBox="1"/>
          <p:nvPr/>
        </p:nvSpPr>
        <p:spPr>
          <a:xfrm>
            <a:off x="8247888" y="3547872"/>
            <a:ext cx="1280160" cy="502920"/>
          </a:xfrm>
          <a:prstGeom prst="rect">
            <a:avLst/>
          </a:prstGeom>
          <a:noFill/>
          <a:ln/>
        </p:spPr>
        <p:txBody>
          <a:bodyPr wrap="square" lIns="0" tIns="0" rIns="0" bIns="0" rtlCol="0" anchor="ctr"/>
          <a:lstStyle/>
          <a:p>
            <a:pPr algn="ctr" indent="0" marL="0">
              <a:buNone/>
            </a:pPr>
            <a:r>
              <a:rPr lang="en-US" sz="1200" b="1" dirty="0">
                <a:solidFill>
                  <a:schemeClr val="tx1"/>
                </a:solidFill>
              </a:rPr>
              <a:t>σ₂u₂v₂ᵀ</a:t>
            </a:r>
            <a:endParaRPr lang="en-US" sz="1200" dirty="0"/>
          </a:p>
          <a:p>
            <a:pPr algn="ctr" indent="0" marL="0">
              <a:buNone/>
            </a:pPr>
            <a:r>
              <a:rPr lang="en-US" sz="1200" dirty="0">
                <a:solidFill>
                  <a:schemeClr val="accent3"/>
                </a:solidFill>
              </a:rPr>
              <a:t>σ₂/σ₁ = 0.24</a:t>
            </a:r>
            <a:endParaRPr lang="en-US" sz="1200" dirty="0"/>
          </a:p>
        </p:txBody>
      </p:sp>
      <p:sp>
        <p:nvSpPr>
          <p:cNvPr id="23" name="Text 16"/>
          <p:cNvSpPr txBox="1"/>
          <p:nvPr/>
        </p:nvSpPr>
        <p:spPr>
          <a:xfrm>
            <a:off x="9528048" y="2651760"/>
            <a:ext cx="292608" cy="36576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pic>
        <p:nvPicPr>
          <p:cNvPr id="24" name="layer 3 image" descr="assets/layer3.png">    </p:cNvPr>
          <p:cNvPicPr>
            <a:picLocks noChangeAspect="1"/>
          </p:cNvPicPr>
          <p:nvPr/>
        </p:nvPicPr>
        <p:blipFill>
          <a:blip r:embed="rId6"/>
          <a:stretch>
            <a:fillRect/>
          </a:stretch>
        </p:blipFill>
        <p:spPr>
          <a:xfrm>
            <a:off x="9820656" y="2194560"/>
            <a:ext cx="1280160" cy="1280160"/>
          </a:xfrm>
          <a:prstGeom prst="rect">
            <a:avLst/>
          </a:prstGeom>
        </p:spPr>
      </p:pic>
      <p:sp>
        <p:nvSpPr>
          <p:cNvPr id="25" name="layer 3 label"/>
          <p:cNvSpPr txBox="1"/>
          <p:nvPr/>
        </p:nvSpPr>
        <p:spPr>
          <a:xfrm>
            <a:off x="9820656" y="3547872"/>
            <a:ext cx="1280160" cy="502920"/>
          </a:xfrm>
          <a:prstGeom prst="rect">
            <a:avLst/>
          </a:prstGeom>
          <a:noFill/>
          <a:ln/>
        </p:spPr>
        <p:txBody>
          <a:bodyPr wrap="square" lIns="0" tIns="0" rIns="0" bIns="0" rtlCol="0" anchor="ctr"/>
          <a:lstStyle/>
          <a:p>
            <a:pPr algn="ctr" indent="0" marL="0">
              <a:buNone/>
            </a:pPr>
            <a:r>
              <a:rPr lang="en-US" sz="1200" b="1" dirty="0">
                <a:solidFill>
                  <a:schemeClr val="tx1"/>
                </a:solidFill>
              </a:rPr>
              <a:t>σ₃u₃v₃ᵀ</a:t>
            </a:r>
            <a:endParaRPr lang="en-US" sz="1200" dirty="0"/>
          </a:p>
          <a:p>
            <a:pPr algn="ctr" indent="0" marL="0">
              <a:buNone/>
            </a:pPr>
            <a:r>
              <a:rPr lang="en-US" sz="1200" dirty="0">
                <a:solidFill>
                  <a:schemeClr val="accent3"/>
                </a:solidFill>
              </a:rPr>
              <a:t>σ₃/σ₁ = 0.19</a:t>
            </a:r>
            <a:endParaRPr lang="en-US" sz="1200" dirty="0"/>
          </a:p>
        </p:txBody>
      </p:sp>
      <p:sp>
        <p:nvSpPr>
          <p:cNvPr id="26" name="ellipsis"/>
          <p:cNvSpPr txBox="1"/>
          <p:nvPr/>
        </p:nvSpPr>
        <p:spPr>
          <a:xfrm>
            <a:off x="11146536" y="2651760"/>
            <a:ext cx="457200" cy="365760"/>
          </a:xfrm>
          <a:prstGeom prst="rect">
            <a:avLst/>
          </a:prstGeom>
          <a:noFill/>
          <a:ln/>
        </p:spPr>
        <p:txBody>
          <a:bodyPr wrap="square" lIns="0" tIns="0" rIns="0" bIns="0" rtlCol="0" anchor="ctr"/>
          <a:lstStyle/>
          <a:p>
            <a:pPr indent="0" marL="0">
              <a:buNone/>
            </a:pPr>
            <a:r>
              <a:rPr lang="en-US" sz="1800" b="1" dirty="0">
                <a:solidFill>
                  <a:schemeClr val="accent1"/>
                </a:solidFill>
              </a:rPr>
              <a:t>+ …</a:t>
            </a:r>
            <a:endParaRPr lang="en-US" sz="1800" dirty="0"/>
          </a:p>
        </p:txBody>
      </p:sp>
      <p:sp>
        <p:nvSpPr>
          <p:cNvPr id="27" name="layer bullets"/>
          <p:cNvSpPr txBox="1"/>
          <p:nvPr/>
        </p:nvSpPr>
        <p:spPr>
          <a:xfrm>
            <a:off x="6675120" y="4434840"/>
            <a:ext cx="475488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Each layer is one column pattern times one row pattern, so it can only draw horizontal and vertical streaks.</a:t>
            </a:r>
            <a:endParaRPr lang="en-US" sz="1400" dirty="0"/>
          </a:p>
          <a:p>
            <a:pPr marL="342900" indent="-342900">
              <a:spcAft>
                <a:spcPts val="600"/>
              </a:spcAft>
              <a:buSzPct val="100000"/>
              <a:buChar char="•"/>
            </a:pPr>
            <a:r>
              <a:rPr lang="en-US" sz="1400" dirty="0">
                <a:solidFill>
                  <a:schemeClr val="tx1"/>
                </a:solidFill>
              </a:rPr>
              <a:t>σ₁ alone holds 87% of the energy; it is mostly the average brightness.</a:t>
            </a:r>
            <a:endParaRPr lang="en-US" sz="1400" dirty="0"/>
          </a:p>
          <a:p>
            <a:pPr marL="342900" indent="-342900">
              <a:spcAft>
                <a:spcPts val="600"/>
              </a:spcAft>
              <a:buSzPct val="100000"/>
              <a:buChar char="•"/>
            </a:pPr>
            <a:r>
              <a:rPr lang="en-US" sz="1400" dirty="0">
                <a:solidFill>
                  <a:schemeClr val="tx1"/>
                </a:solidFill>
              </a:rPr>
              <a:t>The error of A_k is exactly the energy of the dropped σᵢ². Our code checks this to within 10⁻¹⁷.</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IMAGE AS A MATRIX  ·  GRAYSCALE VS. MULTI-CHANNEL RGB</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grayscale image is one matrix; a colour image is three</a:t>
            </a:r>
            <a:endParaRPr lang="en-US" sz="3000" dirty="0"/>
          </a:p>
        </p:txBody>
      </p:sp>
      <p:sp>
        <p:nvSpPr>
          <p:cNvPr id="4" name="grayscale card"/>
          <p:cNvSpPr/>
          <p:nvPr/>
        </p:nvSpPr>
        <p:spPr>
          <a:xfrm>
            <a:off x="548640" y="1554480"/>
            <a:ext cx="5440680" cy="4160520"/>
          </a:xfrm>
          <a:prstGeom prst="roundRect">
            <a:avLst>
              <a:gd name="adj" fmla="val 2637"/>
            </a:avLst>
          </a:prstGeom>
          <a:solidFill>
            <a:srgbClr val="F1F3F5"/>
          </a:solidFill>
          <a:ln/>
        </p:spPr>
      </p:sp>
      <p:sp>
        <p:nvSpPr>
          <p:cNvPr id="5" name="grayscale heading"/>
          <p:cNvSpPr txBox="1"/>
          <p:nvPr/>
        </p:nvSpPr>
        <p:spPr>
          <a:xfrm>
            <a:off x="822960" y="1691640"/>
            <a:ext cx="4937760" cy="320040"/>
          </a:xfrm>
          <a:prstGeom prst="rect">
            <a:avLst/>
          </a:prstGeom>
          <a:noFill/>
          <a:ln/>
        </p:spPr>
        <p:txBody>
          <a:bodyPr wrap="square" lIns="0" tIns="0" rIns="0" bIns="0" rtlCol="0" anchor="ctr"/>
          <a:lstStyle/>
          <a:p>
            <a:pPr indent="0" marL="0">
              <a:buNone/>
            </a:pPr>
            <a:r>
              <a:rPr lang="en-US" sz="1600" b="1" dirty="0">
                <a:solidFill>
                  <a:schemeClr val="tx1"/>
                </a:solidFill>
              </a:rPr>
              <a:t>Grayscale  →  one 512 × 512 matrix, one SVD</a:t>
            </a:r>
            <a:endParaRPr lang="en-US" sz="1600" dirty="0"/>
          </a:p>
        </p:txBody>
      </p:sp>
      <p:pic>
        <p:nvPicPr>
          <p:cNvPr id="6" name="cameraman with patch marker" descr="assets/gray_marked.png">    </p:cNvPr>
          <p:cNvPicPr>
            <a:picLocks noChangeAspect="1"/>
          </p:cNvPicPr>
          <p:nvPr/>
        </p:nvPicPr>
        <p:blipFill>
          <a:blip r:embed="rId1"/>
          <a:stretch>
            <a:fillRect/>
          </a:stretch>
        </p:blipFill>
        <p:spPr>
          <a:xfrm>
            <a:off x="822960" y="2148840"/>
            <a:ext cx="2240280" cy="2240280"/>
          </a:xfrm>
          <a:prstGeom prst="rect">
            <a:avLst/>
          </a:prstGeom>
        </p:spPr>
      </p:pic>
      <p:graphicFrame>
        <p:nvGraphicFramePr>
          <p:cNvPr id="4" name="pixel value matrix"/>
          <p:cNvGraphicFramePr>
            <a:graphicFrameLocks noGrp="1"/>
          </p:cNvGraphicFramePr>
          <p:nvPr>
            <p:extLst>
              <p:ext uri="{D42A27DB-BD31-4B8C-83A1-F6EECF244321}">
                <p14:modId xmlns:p14="http://schemas.microsoft.com/office/powerpoint/2010/main" val="1579011935"/>
              </p:ext>
            </p:extLst>
          </p:nvPr>
        </p:nvGraphicFramePr>
        <p:xfrm>
          <a:off x="3291840" y="2148840"/>
          <a:ext cx="2468880" cy="914400"/>
        </p:xfrm>
        <a:graphic>
          <a:graphicData uri="http://schemas.openxmlformats.org/drawingml/2006/table">
            <a:tbl>
              <a:tblPr/>
              <a:tblGrid>
                <a:gridCol w="411480"/>
                <a:gridCol w="411480"/>
                <a:gridCol w="411480"/>
                <a:gridCol w="411480"/>
                <a:gridCol w="411480"/>
                <a:gridCol w="411480"/>
              </a:tblGrid>
              <a:tr h="373075">
                <a:tc>
                  <a:txBody>
                    <a:bodyPr/>
                    <a:lstStyle/>
                    <a:p>
                      <a:pPr algn="ctr" indent="0" marL="0">
                        <a:buNone/>
                      </a:pPr>
                      <a:r>
                        <a:rPr lang="en-US" sz="1100" b="1" dirty="0">
                          <a:solidFill>
                            <a:srgbClr val="FFFFFF"/>
                          </a:solidFill>
                        </a:rPr>
                        <a:t>39</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72727"/>
                    </a:solidFill>
                  </a:tcPr>
                </a:tc>
                <a:tc>
                  <a:txBody>
                    <a:bodyPr/>
                    <a:lstStyle/>
                    <a:p>
                      <a:pPr algn="ctr" indent="0" marL="0">
                        <a:buNone/>
                      </a:pPr>
                      <a:r>
                        <a:rPr lang="en-US" sz="1100" b="1" dirty="0">
                          <a:solidFill>
                            <a:srgbClr val="FFFFFF"/>
                          </a:solidFill>
                        </a:rPr>
                        <a:t>45</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D2D2D"/>
                    </a:solidFill>
                  </a:tcPr>
                </a:tc>
                <a:tc>
                  <a:txBody>
                    <a:bodyPr/>
                    <a:lstStyle/>
                    <a:p>
                      <a:pPr algn="ctr" indent="0" marL="0">
                        <a:buNone/>
                      </a:pPr>
                      <a:r>
                        <a:rPr lang="en-US" sz="1100" b="1" dirty="0">
                          <a:solidFill>
                            <a:srgbClr val="FFFFFF"/>
                          </a:solidFill>
                        </a:rPr>
                        <a:t>100</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646464"/>
                    </a:solidFill>
                  </a:tcPr>
                </a:tc>
                <a:tc>
                  <a:txBody>
                    <a:bodyPr/>
                    <a:lstStyle/>
                    <a:p>
                      <a:pPr algn="ctr" indent="0" marL="0">
                        <a:buNone/>
                      </a:pPr>
                      <a:r>
                        <a:rPr lang="en-US" sz="1100" b="1" dirty="0">
                          <a:solidFill>
                            <a:srgbClr val="15181D"/>
                          </a:solidFill>
                        </a:rPr>
                        <a:t>246</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6F6F6"/>
                    </a:solidFill>
                  </a:tcPr>
                </a:tc>
                <a:tc>
                  <a:txBody>
                    <a:bodyPr/>
                    <a:lstStyle/>
                    <a:p>
                      <a:pPr algn="ctr" indent="0" marL="0">
                        <a:buNone/>
                      </a:pPr>
                      <a:r>
                        <a:rPr lang="en-US" sz="1100" b="1" dirty="0">
                          <a:solidFill>
                            <a:srgbClr val="15181D"/>
                          </a:solidFill>
                        </a:rPr>
                        <a:t>239</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EFEFEF"/>
                    </a:solidFill>
                  </a:tcPr>
                </a:tc>
                <a:tc>
                  <a:txBody>
                    <a:bodyPr/>
                    <a:lstStyle/>
                    <a:p>
                      <a:pPr algn="ctr" indent="0" marL="0">
                        <a:buNone/>
                      </a:pPr>
                      <a:r>
                        <a:rPr lang="en-US" sz="1100" b="1" dirty="0">
                          <a:solidFill>
                            <a:srgbClr val="15181D"/>
                          </a:solidFill>
                        </a:rPr>
                        <a:t>249</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9F9F9"/>
                    </a:solidFill>
                  </a:tcPr>
                </a:tc>
              </a:tr>
              <a:tr h="373075">
                <a:tc>
                  <a:txBody>
                    <a:bodyPr/>
                    <a:lstStyle/>
                    <a:p>
                      <a:pPr algn="ctr" indent="0" marL="0">
                        <a:buNone/>
                      </a:pPr>
                      <a:r>
                        <a:rPr lang="en-US" sz="1100" b="1" dirty="0">
                          <a:solidFill>
                            <a:srgbClr val="FFFFFF"/>
                          </a:solidFill>
                        </a:rPr>
                        <a:t>38</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62626"/>
                    </a:solidFill>
                  </a:tcPr>
                </a:tc>
                <a:tc>
                  <a:txBody>
                    <a:bodyPr/>
                    <a:lstStyle/>
                    <a:p>
                      <a:pPr algn="ctr" indent="0" marL="0">
                        <a:buNone/>
                      </a:pPr>
                      <a:r>
                        <a:rPr lang="en-US" sz="1100" b="1" dirty="0">
                          <a:solidFill>
                            <a:srgbClr val="FFFFFF"/>
                          </a:solidFill>
                        </a:rPr>
                        <a:t>42</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A2A2A"/>
                    </a:solidFill>
                  </a:tcPr>
                </a:tc>
                <a:tc>
                  <a:txBody>
                    <a:bodyPr/>
                    <a:lstStyle/>
                    <a:p>
                      <a:pPr algn="ctr" indent="0" marL="0">
                        <a:buNone/>
                      </a:pPr>
                      <a:r>
                        <a:rPr lang="en-US" sz="1100" b="1" dirty="0">
                          <a:solidFill>
                            <a:srgbClr val="FFFFFF"/>
                          </a:solidFill>
                        </a:rPr>
                        <a:t>62</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3E3E3E"/>
                    </a:solidFill>
                  </a:tcPr>
                </a:tc>
                <a:tc>
                  <a:txBody>
                    <a:bodyPr/>
                    <a:lstStyle/>
                    <a:p>
                      <a:pPr algn="ctr" indent="0" marL="0">
                        <a:buNone/>
                      </a:pPr>
                      <a:r>
                        <a:rPr lang="en-US" sz="1100" b="1" dirty="0">
                          <a:solidFill>
                            <a:srgbClr val="15181D"/>
                          </a:solidFill>
                        </a:rPr>
                        <a:t>223</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DFDFDF"/>
                    </a:solidFill>
                  </a:tcPr>
                </a:tc>
                <a:tc>
                  <a:txBody>
                    <a:bodyPr/>
                    <a:lstStyle/>
                    <a:p>
                      <a:pPr algn="ctr" indent="0" marL="0">
                        <a:buNone/>
                      </a:pPr>
                      <a:r>
                        <a:rPr lang="en-US" sz="1100" b="1" dirty="0">
                          <a:solidFill>
                            <a:srgbClr val="15181D"/>
                          </a:solidFill>
                        </a:rPr>
                        <a:t>254</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EFEFE"/>
                    </a:solidFill>
                  </a:tcPr>
                </a:tc>
                <a:tc>
                  <a:txBody>
                    <a:bodyPr/>
                    <a:lstStyle/>
                    <a:p>
                      <a:pPr algn="ctr" indent="0" marL="0">
                        <a:buNone/>
                      </a:pPr>
                      <a:r>
                        <a:rPr lang="en-US" sz="1100" b="1" dirty="0">
                          <a:solidFill>
                            <a:srgbClr val="15181D"/>
                          </a:solidFill>
                        </a:rPr>
                        <a:t>254</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EFEFE"/>
                    </a:solidFill>
                  </a:tcPr>
                </a:tc>
              </a:tr>
              <a:tr h="373075">
                <a:tc>
                  <a:txBody>
                    <a:bodyPr/>
                    <a:lstStyle/>
                    <a:p>
                      <a:pPr algn="ctr" indent="0" marL="0">
                        <a:buNone/>
                      </a:pPr>
                      <a:r>
                        <a:rPr lang="en-US" sz="1100" b="1" dirty="0">
                          <a:solidFill>
                            <a:srgbClr val="FFFFFF"/>
                          </a:solidFill>
                        </a:rPr>
                        <a:t>37</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52525"/>
                    </a:solidFill>
                  </a:tcPr>
                </a:tc>
                <a:tc>
                  <a:txBody>
                    <a:bodyPr/>
                    <a:lstStyle/>
                    <a:p>
                      <a:pPr algn="ctr" indent="0" marL="0">
                        <a:buNone/>
                      </a:pPr>
                      <a:r>
                        <a:rPr lang="en-US" sz="1100" b="1" dirty="0">
                          <a:solidFill>
                            <a:srgbClr val="FFFFFF"/>
                          </a:solidFill>
                        </a:rPr>
                        <a:t>40</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82828"/>
                    </a:solidFill>
                  </a:tcPr>
                </a:tc>
                <a:tc>
                  <a:txBody>
                    <a:bodyPr/>
                    <a:lstStyle/>
                    <a:p>
                      <a:pPr algn="ctr" indent="0" marL="0">
                        <a:buNone/>
                      </a:pPr>
                      <a:r>
                        <a:rPr lang="en-US" sz="1100" b="1" dirty="0">
                          <a:solidFill>
                            <a:srgbClr val="FFFFFF"/>
                          </a:solidFill>
                        </a:rPr>
                        <a:t>51</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333333"/>
                    </a:solidFill>
                  </a:tcPr>
                </a:tc>
                <a:tc>
                  <a:txBody>
                    <a:bodyPr/>
                    <a:lstStyle/>
                    <a:p>
                      <a:pPr algn="ctr" indent="0" marL="0">
                        <a:buNone/>
                      </a:pPr>
                      <a:r>
                        <a:rPr lang="en-US" sz="1100" b="1" dirty="0">
                          <a:solidFill>
                            <a:srgbClr val="15181D"/>
                          </a:solidFill>
                        </a:rPr>
                        <a:t>189</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BDBDBD"/>
                    </a:solidFill>
                  </a:tcPr>
                </a:tc>
                <a:tc>
                  <a:txBody>
                    <a:bodyPr/>
                    <a:lstStyle/>
                    <a:p>
                      <a:pPr algn="ctr" indent="0" marL="0">
                        <a:buNone/>
                      </a:pPr>
                      <a:r>
                        <a:rPr lang="en-US" sz="1100" b="1" dirty="0">
                          <a:solidFill>
                            <a:srgbClr val="15181D"/>
                          </a:solidFill>
                        </a:rPr>
                        <a:t>254</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EFEFE"/>
                    </a:solidFill>
                  </a:tcPr>
                </a:tc>
                <a:tc>
                  <a:txBody>
                    <a:bodyPr/>
                    <a:lstStyle/>
                    <a:p>
                      <a:pPr algn="ctr" indent="0" marL="0">
                        <a:buNone/>
                      </a:pPr>
                      <a:r>
                        <a:rPr lang="en-US" sz="1100" b="1" dirty="0">
                          <a:solidFill>
                            <a:srgbClr val="15181D"/>
                          </a:solidFill>
                        </a:rPr>
                        <a:t>249</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9F9F9"/>
                    </a:solidFill>
                  </a:tcPr>
                </a:tc>
              </a:tr>
              <a:tr h="373075">
                <a:tc>
                  <a:txBody>
                    <a:bodyPr/>
                    <a:lstStyle/>
                    <a:p>
                      <a:pPr algn="ctr" indent="0" marL="0">
                        <a:buNone/>
                      </a:pPr>
                      <a:r>
                        <a:rPr lang="en-US" sz="1100" b="1" dirty="0">
                          <a:solidFill>
                            <a:srgbClr val="FFFFFF"/>
                          </a:solidFill>
                        </a:rPr>
                        <a:t>35</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32323"/>
                    </a:solidFill>
                  </a:tcPr>
                </a:tc>
                <a:tc>
                  <a:txBody>
                    <a:bodyPr/>
                    <a:lstStyle/>
                    <a:p>
                      <a:pPr algn="ctr" indent="0" marL="0">
                        <a:buNone/>
                      </a:pPr>
                      <a:r>
                        <a:rPr lang="en-US" sz="1100" b="1" dirty="0">
                          <a:solidFill>
                            <a:srgbClr val="FFFFFF"/>
                          </a:solidFill>
                        </a:rPr>
                        <a:t>39</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72727"/>
                    </a:solidFill>
                  </a:tcPr>
                </a:tc>
                <a:tc>
                  <a:txBody>
                    <a:bodyPr/>
                    <a:lstStyle/>
                    <a:p>
                      <a:pPr algn="ctr" indent="0" marL="0">
                        <a:buNone/>
                      </a:pPr>
                      <a:r>
                        <a:rPr lang="en-US" sz="1100" b="1" dirty="0">
                          <a:solidFill>
                            <a:srgbClr val="FFFFFF"/>
                          </a:solidFill>
                        </a:rPr>
                        <a:t>45</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D2D2D"/>
                    </a:solidFill>
                  </a:tcPr>
                </a:tc>
                <a:tc>
                  <a:txBody>
                    <a:bodyPr/>
                    <a:lstStyle/>
                    <a:p>
                      <a:pPr algn="ctr" indent="0" marL="0">
                        <a:buNone/>
                      </a:pPr>
                      <a:r>
                        <a:rPr lang="en-US" sz="1100" b="1" dirty="0">
                          <a:solidFill>
                            <a:srgbClr val="15181D"/>
                          </a:solidFill>
                        </a:rPr>
                        <a:t>141</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8D8D8D"/>
                    </a:solidFill>
                  </a:tcPr>
                </a:tc>
                <a:tc>
                  <a:txBody>
                    <a:bodyPr/>
                    <a:lstStyle/>
                    <a:p>
                      <a:pPr algn="ctr" indent="0" marL="0">
                        <a:buNone/>
                      </a:pPr>
                      <a:r>
                        <a:rPr lang="en-US" sz="1100" b="1" dirty="0">
                          <a:solidFill>
                            <a:srgbClr val="15181D"/>
                          </a:solidFill>
                        </a:rPr>
                        <a:t>253</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DFDFD"/>
                    </a:solidFill>
                  </a:tcPr>
                </a:tc>
                <a:tc>
                  <a:txBody>
                    <a:bodyPr/>
                    <a:lstStyle/>
                    <a:p>
                      <a:pPr algn="ctr" indent="0" marL="0">
                        <a:buNone/>
                      </a:pPr>
                      <a:r>
                        <a:rPr lang="en-US" sz="1100" b="1" dirty="0">
                          <a:solidFill>
                            <a:srgbClr val="15181D"/>
                          </a:solidFill>
                        </a:rPr>
                        <a:t>250</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AFAFA"/>
                    </a:solidFill>
                  </a:tcPr>
                </a:tc>
              </a:tr>
              <a:tr h="373075">
                <a:tc>
                  <a:txBody>
                    <a:bodyPr/>
                    <a:lstStyle/>
                    <a:p>
                      <a:pPr algn="ctr" indent="0" marL="0">
                        <a:buNone/>
                      </a:pPr>
                      <a:r>
                        <a:rPr lang="en-US" sz="1100" b="1" dirty="0">
                          <a:solidFill>
                            <a:srgbClr val="FFFFFF"/>
                          </a:solidFill>
                        </a:rPr>
                        <a:t>32</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02020"/>
                    </a:solidFill>
                  </a:tcPr>
                </a:tc>
                <a:tc>
                  <a:txBody>
                    <a:bodyPr/>
                    <a:lstStyle/>
                    <a:p>
                      <a:pPr algn="ctr" indent="0" marL="0">
                        <a:buNone/>
                      </a:pPr>
                      <a:r>
                        <a:rPr lang="en-US" sz="1100" b="1" dirty="0">
                          <a:solidFill>
                            <a:srgbClr val="FFFFFF"/>
                          </a:solidFill>
                        </a:rPr>
                        <a:t>34</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22222"/>
                    </a:solidFill>
                  </a:tcPr>
                </a:tc>
                <a:tc>
                  <a:txBody>
                    <a:bodyPr/>
                    <a:lstStyle/>
                    <a:p>
                      <a:pPr algn="ctr" indent="0" marL="0">
                        <a:buNone/>
                      </a:pPr>
                      <a:r>
                        <a:rPr lang="en-US" sz="1100" b="1" dirty="0">
                          <a:solidFill>
                            <a:srgbClr val="FFFFFF"/>
                          </a:solidFill>
                        </a:rPr>
                        <a:t>41</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92929"/>
                    </a:solidFill>
                  </a:tcPr>
                </a:tc>
                <a:tc>
                  <a:txBody>
                    <a:bodyPr/>
                    <a:lstStyle/>
                    <a:p>
                      <a:pPr algn="ctr" indent="0" marL="0">
                        <a:buNone/>
                      </a:pPr>
                      <a:r>
                        <a:rPr lang="en-US" sz="1100" b="1" dirty="0">
                          <a:solidFill>
                            <a:srgbClr val="FFFFFF"/>
                          </a:solidFill>
                        </a:rPr>
                        <a:t>81</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515151"/>
                    </a:solidFill>
                  </a:tcPr>
                </a:tc>
                <a:tc>
                  <a:txBody>
                    <a:bodyPr/>
                    <a:lstStyle/>
                    <a:p>
                      <a:pPr algn="ctr" indent="0" marL="0">
                        <a:buNone/>
                      </a:pPr>
                      <a:r>
                        <a:rPr lang="en-US" sz="1100" b="1" dirty="0">
                          <a:solidFill>
                            <a:srgbClr val="15181D"/>
                          </a:solidFill>
                        </a:rPr>
                        <a:t>240</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0F0F0"/>
                    </a:solidFill>
                  </a:tcPr>
                </a:tc>
                <a:tc>
                  <a:txBody>
                    <a:bodyPr/>
                    <a:lstStyle/>
                    <a:p>
                      <a:pPr algn="ctr" indent="0" marL="0">
                        <a:buNone/>
                      </a:pPr>
                      <a:r>
                        <a:rPr lang="en-US" sz="1100" b="1" dirty="0">
                          <a:solidFill>
                            <a:srgbClr val="15181D"/>
                          </a:solidFill>
                        </a:rPr>
                        <a:t>247</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F7F7F7"/>
                    </a:solidFill>
                  </a:tcPr>
                </a:tc>
              </a:tr>
              <a:tr h="373075">
                <a:tc>
                  <a:txBody>
                    <a:bodyPr/>
                    <a:lstStyle/>
                    <a:p>
                      <a:pPr algn="ctr" indent="0" marL="0">
                        <a:buNone/>
                      </a:pPr>
                      <a:r>
                        <a:rPr lang="en-US" sz="1100" b="1" dirty="0">
                          <a:solidFill>
                            <a:srgbClr val="FFFFFF"/>
                          </a:solidFill>
                        </a:rPr>
                        <a:t>32</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02020"/>
                    </a:solidFill>
                  </a:tcPr>
                </a:tc>
                <a:tc>
                  <a:txBody>
                    <a:bodyPr/>
                    <a:lstStyle/>
                    <a:p>
                      <a:pPr algn="ctr" indent="0" marL="0">
                        <a:buNone/>
                      </a:pPr>
                      <a:r>
                        <a:rPr lang="en-US" sz="1100" b="1" dirty="0">
                          <a:solidFill>
                            <a:srgbClr val="FFFFFF"/>
                          </a:solidFill>
                        </a:rPr>
                        <a:t>32</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02020"/>
                    </a:solidFill>
                  </a:tcPr>
                </a:tc>
                <a:tc>
                  <a:txBody>
                    <a:bodyPr/>
                    <a:lstStyle/>
                    <a:p>
                      <a:pPr algn="ctr" indent="0" marL="0">
                        <a:buNone/>
                      </a:pPr>
                      <a:r>
                        <a:rPr lang="en-US" sz="1100" b="1" dirty="0">
                          <a:solidFill>
                            <a:srgbClr val="FFFFFF"/>
                          </a:solidFill>
                        </a:rPr>
                        <a:t>38</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262626"/>
                    </a:solidFill>
                  </a:tcPr>
                </a:tc>
                <a:tc>
                  <a:txBody>
                    <a:bodyPr/>
                    <a:lstStyle/>
                    <a:p>
                      <a:pPr algn="ctr" indent="0" marL="0">
                        <a:buNone/>
                      </a:pPr>
                      <a:r>
                        <a:rPr lang="en-US" sz="1100" b="1" dirty="0">
                          <a:solidFill>
                            <a:srgbClr val="FFFFFF"/>
                          </a:solidFill>
                        </a:rPr>
                        <a:t>55</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373737"/>
                    </a:solidFill>
                  </a:tcPr>
                </a:tc>
                <a:tc>
                  <a:txBody>
                    <a:bodyPr/>
                    <a:lstStyle/>
                    <a:p>
                      <a:pPr algn="ctr" indent="0" marL="0">
                        <a:buNone/>
                      </a:pPr>
                      <a:r>
                        <a:rPr lang="en-US" sz="1100" b="1" dirty="0">
                          <a:solidFill>
                            <a:srgbClr val="15181D"/>
                          </a:solidFill>
                        </a:rPr>
                        <a:t>226</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E2E2E2"/>
                    </a:solidFill>
                  </a:tcPr>
                </a:tc>
                <a:tc>
                  <a:txBody>
                    <a:bodyPr/>
                    <a:lstStyle/>
                    <a:p>
                      <a:pPr algn="ctr" indent="0" marL="0">
                        <a:buNone/>
                      </a:pPr>
                      <a:r>
                        <a:rPr lang="en-US" sz="1100" b="1" dirty="0">
                          <a:solidFill>
                            <a:srgbClr val="15181D"/>
                          </a:solidFill>
                        </a:rPr>
                        <a:t>236</a:t>
                      </a:r>
                      <a:endParaRPr lang="en-US" sz="1100" dirty="0"/>
                    </a:p>
                  </a:txBody>
                  <a:tcPr marL="0" marR="0" marT="0" marB="0"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rgbClr val="ECECEC"/>
                    </a:solidFill>
                  </a:tcPr>
                </a:tc>
              </a:tr>
            </a:tbl>
          </a:graphicData>
        </a:graphic>
      </p:graphicFrame>
      <p:sp>
        <p:nvSpPr>
          <p:cNvPr id="8" name="patch caption"/>
          <p:cNvSpPr txBox="1"/>
          <p:nvPr/>
        </p:nvSpPr>
        <p:spPr>
          <a:xfrm>
            <a:off x="822960" y="4480560"/>
            <a:ext cx="4937760" cy="502920"/>
          </a:xfrm>
          <a:prstGeom prst="rect">
            <a:avLst/>
          </a:prstGeom>
          <a:noFill/>
          <a:ln/>
        </p:spPr>
        <p:txBody>
          <a:bodyPr wrap="square" lIns="0" tIns="0" rIns="0" bIns="0" rtlCol="0" anchor="ctr"/>
          <a:lstStyle/>
          <a:p>
            <a:pPr indent="0" marL="0">
              <a:buNone/>
            </a:pPr>
            <a:r>
              <a:rPr lang="en-US" sz="1200" dirty="0">
                <a:solidFill>
                  <a:schemeClr val="tx2"/>
                </a:solidFill>
              </a:rPr>
              <a:t>The orange box, zoomed: a 6 × 6 block of the matrix. Each entry is a brightness from 0 (black) to 255 (white).</a:t>
            </a:r>
            <a:endParaRPr lang="en-US" sz="1200" dirty="0"/>
          </a:p>
        </p:txBody>
      </p:sp>
      <p:pic>
        <p:nvPicPr>
          <p:cNvPr id="9" name="eq_storage" descr="assets/eq_storage.png">    </p:cNvPr>
          <p:cNvPicPr>
            <a:picLocks noChangeAspect="1"/>
          </p:cNvPicPr>
          <p:nvPr/>
        </p:nvPicPr>
        <p:blipFill>
          <a:blip r:embed="rId2"/>
          <a:stretch>
            <a:fillRect/>
          </a:stretch>
        </p:blipFill>
        <p:spPr>
          <a:xfrm>
            <a:off x="822960" y="5074920"/>
            <a:ext cx="3778758" cy="335890"/>
          </a:xfrm>
          <a:prstGeom prst="rect">
            <a:avLst/>
          </a:prstGeom>
        </p:spPr>
      </p:pic>
      <p:sp>
        <p:nvSpPr>
          <p:cNvPr id="10" name="rgb card"/>
          <p:cNvSpPr/>
          <p:nvPr/>
        </p:nvSpPr>
        <p:spPr>
          <a:xfrm>
            <a:off x="6199632" y="1554480"/>
            <a:ext cx="5440680" cy="4160520"/>
          </a:xfrm>
          <a:prstGeom prst="roundRect">
            <a:avLst>
              <a:gd name="adj" fmla="val 2637"/>
            </a:avLst>
          </a:prstGeom>
          <a:solidFill>
            <a:srgbClr val="F1F3F5"/>
          </a:solidFill>
          <a:ln/>
        </p:spPr>
      </p:sp>
      <p:sp>
        <p:nvSpPr>
          <p:cNvPr id="11" name="rgb heading"/>
          <p:cNvSpPr txBox="1"/>
          <p:nvPr/>
        </p:nvSpPr>
        <p:spPr>
          <a:xfrm>
            <a:off x="6473952" y="1691640"/>
            <a:ext cx="4937760" cy="320040"/>
          </a:xfrm>
          <a:prstGeom prst="rect">
            <a:avLst/>
          </a:prstGeom>
          <a:noFill/>
          <a:ln/>
        </p:spPr>
        <p:txBody>
          <a:bodyPr wrap="square" lIns="0" tIns="0" rIns="0" bIns="0" rtlCol="0" anchor="ctr"/>
          <a:lstStyle/>
          <a:p>
            <a:pPr indent="0" marL="0">
              <a:buNone/>
            </a:pPr>
            <a:r>
              <a:rPr lang="en-US" sz="1600" b="1" dirty="0">
                <a:solidFill>
                  <a:schemeClr val="tx1"/>
                </a:solidFill>
              </a:rPr>
              <a:t>RGB  →  three 512 × 512 matrices, three SVDs</a:t>
            </a:r>
            <a:endParaRPr lang="en-US" sz="1600" dirty="0"/>
          </a:p>
        </p:txBody>
      </p:sp>
      <p:pic>
        <p:nvPicPr>
          <p:cNvPr id="12" name="astronaut original" descr="assets/rgb_orig.png">    </p:cNvPr>
          <p:cNvPicPr>
            <a:picLocks noChangeAspect="1"/>
          </p:cNvPicPr>
          <p:nvPr/>
        </p:nvPicPr>
        <p:blipFill>
          <a:blip r:embed="rId3"/>
          <a:stretch>
            <a:fillRect/>
          </a:stretch>
        </p:blipFill>
        <p:spPr>
          <a:xfrm>
            <a:off x="6473952" y="2148840"/>
            <a:ext cx="1417320" cy="1417320"/>
          </a:xfrm>
          <a:prstGeom prst="rect">
            <a:avLst/>
          </a:prstGeom>
        </p:spPr>
      </p:pic>
      <p:sp>
        <p:nvSpPr>
          <p:cNvPr id="13" name="Text 7"/>
          <p:cNvSpPr txBox="1"/>
          <p:nvPr/>
        </p:nvSpPr>
        <p:spPr>
          <a:xfrm>
            <a:off x="7891272" y="2670048"/>
            <a:ext cx="320040" cy="36576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pic>
        <p:nvPicPr>
          <p:cNvPr id="14" name="channel R" descr="assets/chan_R.png">    </p:cNvPr>
          <p:cNvPicPr>
            <a:picLocks noChangeAspect="1"/>
          </p:cNvPicPr>
          <p:nvPr/>
        </p:nvPicPr>
        <p:blipFill>
          <a:blip r:embed="rId4"/>
          <a:stretch>
            <a:fillRect/>
          </a:stretch>
        </p:blipFill>
        <p:spPr>
          <a:xfrm>
            <a:off x="8211312" y="2286000"/>
            <a:ext cx="960120" cy="960120"/>
          </a:xfrm>
          <a:prstGeom prst="rect">
            <a:avLst/>
          </a:prstGeom>
        </p:spPr>
      </p:pic>
      <p:sp>
        <p:nvSpPr>
          <p:cNvPr id="15" name="Text 8"/>
          <p:cNvSpPr txBox="1"/>
          <p:nvPr/>
        </p:nvSpPr>
        <p:spPr>
          <a:xfrm>
            <a:off x="8211312" y="3291840"/>
            <a:ext cx="960120" cy="274320"/>
          </a:xfrm>
          <a:prstGeom prst="rect">
            <a:avLst/>
          </a:prstGeom>
          <a:noFill/>
          <a:ln/>
        </p:spPr>
        <p:txBody>
          <a:bodyPr wrap="square" lIns="0" tIns="0" rIns="0" bIns="0" rtlCol="0" anchor="ctr"/>
          <a:lstStyle/>
          <a:p>
            <a:pPr algn="ctr" indent="0" marL="0">
              <a:buNone/>
            </a:pPr>
            <a:r>
              <a:rPr lang="en-US" sz="1200" b="1" dirty="0">
                <a:solidFill>
                  <a:schemeClr val="tx1"/>
                </a:solidFill>
              </a:rPr>
              <a:t>X_R</a:t>
            </a:r>
            <a:endParaRPr lang="en-US" sz="1200" dirty="0"/>
          </a:p>
        </p:txBody>
      </p:sp>
      <p:pic>
        <p:nvPicPr>
          <p:cNvPr id="16" name="channel G" descr="assets/chan_G.png">    </p:cNvPr>
          <p:cNvPicPr>
            <a:picLocks noChangeAspect="1"/>
          </p:cNvPicPr>
          <p:nvPr/>
        </p:nvPicPr>
        <p:blipFill>
          <a:blip r:embed="rId5"/>
          <a:stretch>
            <a:fillRect/>
          </a:stretch>
        </p:blipFill>
        <p:spPr>
          <a:xfrm>
            <a:off x="9290304" y="2286000"/>
            <a:ext cx="960120" cy="960120"/>
          </a:xfrm>
          <a:prstGeom prst="rect">
            <a:avLst/>
          </a:prstGeom>
        </p:spPr>
      </p:pic>
      <p:sp>
        <p:nvSpPr>
          <p:cNvPr id="17" name="Text 9"/>
          <p:cNvSpPr txBox="1"/>
          <p:nvPr/>
        </p:nvSpPr>
        <p:spPr>
          <a:xfrm>
            <a:off x="9290304" y="3291840"/>
            <a:ext cx="960120" cy="274320"/>
          </a:xfrm>
          <a:prstGeom prst="rect">
            <a:avLst/>
          </a:prstGeom>
          <a:noFill/>
          <a:ln/>
        </p:spPr>
        <p:txBody>
          <a:bodyPr wrap="square" lIns="0" tIns="0" rIns="0" bIns="0" rtlCol="0" anchor="ctr"/>
          <a:lstStyle/>
          <a:p>
            <a:pPr algn="ctr" indent="0" marL="0">
              <a:buNone/>
            </a:pPr>
            <a:r>
              <a:rPr lang="en-US" sz="1200" b="1" dirty="0">
                <a:solidFill>
                  <a:schemeClr val="tx1"/>
                </a:solidFill>
              </a:rPr>
              <a:t>X_G</a:t>
            </a:r>
            <a:endParaRPr lang="en-US" sz="1200" dirty="0"/>
          </a:p>
        </p:txBody>
      </p:sp>
      <p:pic>
        <p:nvPicPr>
          <p:cNvPr id="18" name="channel B" descr="assets/chan_B.png">    </p:cNvPr>
          <p:cNvPicPr>
            <a:picLocks noChangeAspect="1"/>
          </p:cNvPicPr>
          <p:nvPr/>
        </p:nvPicPr>
        <p:blipFill>
          <a:blip r:embed="rId6"/>
          <a:stretch>
            <a:fillRect/>
          </a:stretch>
        </p:blipFill>
        <p:spPr>
          <a:xfrm>
            <a:off x="10369296" y="2286000"/>
            <a:ext cx="960120" cy="960120"/>
          </a:xfrm>
          <a:prstGeom prst="rect">
            <a:avLst/>
          </a:prstGeom>
        </p:spPr>
      </p:pic>
      <p:sp>
        <p:nvSpPr>
          <p:cNvPr id="19" name="Text 10"/>
          <p:cNvSpPr txBox="1"/>
          <p:nvPr/>
        </p:nvSpPr>
        <p:spPr>
          <a:xfrm>
            <a:off x="10369296" y="3291840"/>
            <a:ext cx="960120" cy="274320"/>
          </a:xfrm>
          <a:prstGeom prst="rect">
            <a:avLst/>
          </a:prstGeom>
          <a:noFill/>
          <a:ln/>
        </p:spPr>
        <p:txBody>
          <a:bodyPr wrap="square" lIns="0" tIns="0" rIns="0" bIns="0" rtlCol="0" anchor="ctr"/>
          <a:lstStyle/>
          <a:p>
            <a:pPr algn="ctr" indent="0" marL="0">
              <a:buNone/>
            </a:pPr>
            <a:r>
              <a:rPr lang="en-US" sz="1200" b="1" dirty="0">
                <a:solidFill>
                  <a:schemeClr val="tx1"/>
                </a:solidFill>
              </a:rPr>
              <a:t>X_B</a:t>
            </a:r>
            <a:endParaRPr lang="en-US" sz="1200" dirty="0"/>
          </a:p>
        </p:txBody>
      </p:sp>
      <p:pic>
        <p:nvPicPr>
          <p:cNvPr id="20" name="eq_rgb" descr="assets/eq_rgb.png">    </p:cNvPr>
          <p:cNvPicPr>
            <a:picLocks noChangeAspect="1"/>
          </p:cNvPicPr>
          <p:nvPr/>
        </p:nvPicPr>
        <p:blipFill>
          <a:blip r:embed="rId7"/>
          <a:stretch>
            <a:fillRect/>
          </a:stretch>
        </p:blipFill>
        <p:spPr>
          <a:xfrm>
            <a:off x="6473952" y="3840480"/>
            <a:ext cx="3995928" cy="393802"/>
          </a:xfrm>
          <a:prstGeom prst="rect">
            <a:avLst/>
          </a:prstGeom>
        </p:spPr>
      </p:pic>
      <p:sp>
        <p:nvSpPr>
          <p:cNvPr id="21" name="rgb bullets"/>
          <p:cNvSpPr txBox="1"/>
          <p:nvPr/>
        </p:nvSpPr>
        <p:spPr>
          <a:xfrm>
            <a:off x="6473952" y="4389120"/>
            <a:ext cx="493776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Storage triples: 3k(M+N+1) values.</a:t>
            </a:r>
            <a:endParaRPr lang="en-US" sz="1400" dirty="0"/>
          </a:p>
          <a:p>
            <a:pPr marL="342900" indent="-342900">
              <a:spcAft>
                <a:spcPts val="600"/>
              </a:spcAft>
              <a:buSzPct val="100000"/>
              <a:buChar char="•"/>
            </a:pPr>
            <a:r>
              <a:rPr lang="en-US" sz="1400" dirty="0">
                <a:solidFill>
                  <a:schemeClr val="tx1"/>
                </a:solidFill>
              </a:rPr>
              <a:t>Channels are truncated independently, so at low k they disagree and create false colours.</a:t>
            </a:r>
            <a:endParaRPr lang="en-US" sz="1400" dirty="0"/>
          </a:p>
        </p:txBody>
      </p:sp>
      <p:sp>
        <p:nvSpPr>
          <p:cNvPr id="22" name="break-even chip"/>
          <p:cNvSpPr/>
          <p:nvPr/>
        </p:nvSpPr>
        <p:spPr>
          <a:xfrm>
            <a:off x="548640" y="5870448"/>
            <a:ext cx="329184" cy="329184"/>
          </a:xfrm>
          <a:prstGeom prst="ellipse">
            <a:avLst/>
          </a:prstGeom>
          <a:solidFill>
            <a:schemeClr val="accent1"/>
          </a:solidFill>
          <a:ln/>
        </p:spPr>
      </p:sp>
      <p:sp>
        <p:nvSpPr>
          <p:cNvPr id="23" name="break-even chip text"/>
          <p:cNvSpPr txBox="1"/>
          <p:nvPr/>
        </p:nvSpPr>
        <p:spPr>
          <a:xfrm>
            <a:off x="548640" y="5870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4" name="break-even note"/>
          <p:cNvSpPr txBox="1"/>
          <p:nvPr/>
        </p:nvSpPr>
        <p:spPr>
          <a:xfrm>
            <a:off x="1005840" y="5870448"/>
            <a:ext cx="10607040" cy="329184"/>
          </a:xfrm>
          <a:prstGeom prst="rect">
            <a:avLst/>
          </a:prstGeom>
          <a:noFill/>
          <a:ln/>
        </p:spPr>
        <p:txBody>
          <a:bodyPr wrap="square" lIns="0" tIns="0" rIns="0" bIns="0" rtlCol="0" anchor="ctr"/>
          <a:lstStyle/>
          <a:p>
            <a:pPr indent="0" marL="0">
              <a:buNone/>
            </a:pPr>
            <a:r>
              <a:rPr lang="en-US" sz="1400" b="1" dirty="0">
                <a:solidFill>
                  <a:schemeClr val="tx1"/>
                </a:solidFill>
              </a:rPr>
              <a:t>Break-even: </a:t>
            </a:r>
            <a:pPr indent="0" marL="0">
              <a:buNone/>
            </a:pPr>
            <a:r>
              <a:rPr lang="en-US" sz="1400" dirty="0">
                <a:solidFill>
                  <a:schemeClr val="tx1"/>
                </a:solidFill>
              </a:rPr>
              <a:t>truncation saves space only while k &lt; MN / (M+N+1) ≈ 256 for a 512 × 512 image.</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EMPIRICAL RESULTS  ·  VISUAL COMPARISON ACROSS RANKS</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By k = 50 the image is usable; k = 100 is close to the original</a:t>
            </a:r>
            <a:endParaRPr lang="en-US" sz="3000" dirty="0"/>
          </a:p>
        </p:txBody>
      </p:sp>
      <p:sp>
        <p:nvSpPr>
          <p:cNvPr id="4" name="col Original pill"/>
          <p:cNvSpPr/>
          <p:nvPr/>
        </p:nvSpPr>
        <p:spPr>
          <a:xfrm>
            <a:off x="1345540" y="1371600"/>
            <a:ext cx="1051560" cy="310896"/>
          </a:xfrm>
          <a:prstGeom prst="roundRect">
            <a:avLst>
              <a:gd name="adj" fmla="val 50000"/>
            </a:avLst>
          </a:prstGeom>
          <a:solidFill>
            <a:schemeClr val="tx2"/>
          </a:solidFill>
          <a:ln/>
        </p:spPr>
      </p:sp>
      <p:sp>
        <p:nvSpPr>
          <p:cNvPr id="5" name="Text 3"/>
          <p:cNvSpPr txBox="1"/>
          <p:nvPr/>
        </p:nvSpPr>
        <p:spPr>
          <a:xfrm>
            <a:off x="1345540" y="1371600"/>
            <a:ext cx="1051560" cy="310896"/>
          </a:xfrm>
          <a:prstGeom prst="rect">
            <a:avLst/>
          </a:prstGeom>
          <a:noFill/>
          <a:ln/>
        </p:spPr>
        <p:txBody>
          <a:bodyPr wrap="square" lIns="0" tIns="0" rIns="0" bIns="0" rtlCol="0" anchor="ctr"/>
          <a:lstStyle/>
          <a:p>
            <a:pPr algn="ctr" indent="0" marL="0">
              <a:buNone/>
            </a:pPr>
            <a:r>
              <a:rPr lang="en-US" sz="1300" b="1" dirty="0">
                <a:solidFill>
                  <a:schemeClr val="bg1"/>
                </a:solidFill>
              </a:rPr>
              <a:t>Original</a:t>
            </a:r>
            <a:endParaRPr lang="en-US" sz="1300" dirty="0"/>
          </a:p>
        </p:txBody>
      </p:sp>
      <p:sp>
        <p:nvSpPr>
          <p:cNvPr id="6" name="desc Original"/>
          <p:cNvSpPr txBox="1"/>
          <p:nvPr/>
        </p:nvSpPr>
        <p:spPr>
          <a:xfrm>
            <a:off x="979780" y="1700784"/>
            <a:ext cx="1783080" cy="274320"/>
          </a:xfrm>
          <a:prstGeom prst="rect">
            <a:avLst/>
          </a:prstGeom>
          <a:noFill/>
          <a:ln/>
        </p:spPr>
        <p:txBody>
          <a:bodyPr wrap="square" lIns="0" tIns="0" rIns="0" bIns="0" rtlCol="0" anchor="ctr"/>
          <a:lstStyle/>
          <a:p>
            <a:pPr algn="ctr" indent="0" marL="0">
              <a:buNone/>
            </a:pPr>
            <a:r>
              <a:rPr lang="en-US" sz="1200" i="1" dirty="0">
                <a:solidFill>
                  <a:schemeClr val="tx2"/>
                </a:solidFill>
              </a:rPr>
              <a:t>full rank (512)</a:t>
            </a:r>
            <a:endParaRPr lang="en-US" sz="1200" dirty="0"/>
          </a:p>
        </p:txBody>
      </p:sp>
      <p:pic>
        <p:nvPicPr>
          <p:cNvPr id="7" name="gray Original image" descr="assets/gray_orig.png">    </p:cNvPr>
          <p:cNvPicPr>
            <a:picLocks noChangeAspect="1"/>
          </p:cNvPicPr>
          <p:nvPr/>
        </p:nvPicPr>
        <p:blipFill>
          <a:blip r:embed="rId1"/>
          <a:stretch>
            <a:fillRect/>
          </a:stretch>
        </p:blipFill>
        <p:spPr>
          <a:xfrm>
            <a:off x="979780" y="2057400"/>
            <a:ext cx="1783080" cy="1783080"/>
          </a:xfrm>
          <a:prstGeom prst="rect">
            <a:avLst/>
          </a:prstGeom>
        </p:spPr>
      </p:pic>
      <p:sp>
        <p:nvSpPr>
          <p:cNvPr id="8" name="gray Original label"/>
          <p:cNvSpPr txBox="1"/>
          <p:nvPr/>
        </p:nvSpPr>
        <p:spPr>
          <a:xfrm>
            <a:off x="888340" y="3877056"/>
            <a:ext cx="1965960" cy="274320"/>
          </a:xfrm>
          <a:prstGeom prst="rect">
            <a:avLst/>
          </a:prstGeom>
          <a:noFill/>
          <a:ln/>
        </p:spPr>
        <p:txBody>
          <a:bodyPr wrap="square" lIns="0" tIns="0" rIns="0" bIns="0" rtlCol="0" anchor="ctr"/>
          <a:lstStyle/>
          <a:p>
            <a:pPr algn="ctr" indent="0" marL="0">
              <a:buNone/>
            </a:pPr>
            <a:r>
              <a:rPr lang="en-US" sz="1200" dirty="0">
                <a:solidFill>
                  <a:schemeClr val="tx1"/>
                </a:solidFill>
              </a:rPr>
              <a:t>Grayscale · cameraman</a:t>
            </a:r>
            <a:endParaRPr lang="en-US" sz="1200" dirty="0"/>
          </a:p>
        </p:txBody>
      </p:sp>
      <p:pic>
        <p:nvPicPr>
          <p:cNvPr id="9" name="rgb Original image" descr="assets/rgb_orig.png">    </p:cNvPr>
          <p:cNvPicPr>
            <a:picLocks noChangeAspect="1"/>
          </p:cNvPicPr>
          <p:nvPr/>
        </p:nvPicPr>
        <p:blipFill>
          <a:blip r:embed="rId2"/>
          <a:stretch>
            <a:fillRect/>
          </a:stretch>
        </p:blipFill>
        <p:spPr>
          <a:xfrm>
            <a:off x="979780" y="4251960"/>
            <a:ext cx="1783080" cy="1783080"/>
          </a:xfrm>
          <a:prstGeom prst="rect">
            <a:avLst/>
          </a:prstGeom>
        </p:spPr>
      </p:pic>
      <p:sp>
        <p:nvSpPr>
          <p:cNvPr id="10" name="rgb Original label"/>
          <p:cNvSpPr txBox="1"/>
          <p:nvPr/>
        </p:nvSpPr>
        <p:spPr>
          <a:xfrm>
            <a:off x="888340" y="6071616"/>
            <a:ext cx="1965960" cy="274320"/>
          </a:xfrm>
          <a:prstGeom prst="rect">
            <a:avLst/>
          </a:prstGeom>
          <a:noFill/>
          <a:ln/>
        </p:spPr>
        <p:txBody>
          <a:bodyPr wrap="square" lIns="0" tIns="0" rIns="0" bIns="0" rtlCol="0" anchor="ctr"/>
          <a:lstStyle/>
          <a:p>
            <a:pPr algn="ctr" indent="0" marL="0">
              <a:buNone/>
            </a:pPr>
            <a:r>
              <a:rPr lang="en-US" sz="1200" dirty="0">
                <a:solidFill>
                  <a:schemeClr val="tx1"/>
                </a:solidFill>
              </a:rPr>
              <a:t>Colour · astronaut</a:t>
            </a:r>
            <a:endParaRPr lang="en-US" sz="1200" dirty="0"/>
          </a:p>
        </p:txBody>
      </p:sp>
      <p:sp>
        <p:nvSpPr>
          <p:cNvPr id="11" name="col k = 5 pill"/>
          <p:cNvSpPr/>
          <p:nvPr/>
        </p:nvSpPr>
        <p:spPr>
          <a:xfrm>
            <a:off x="3457804" y="1371600"/>
            <a:ext cx="1051560" cy="310896"/>
          </a:xfrm>
          <a:prstGeom prst="roundRect">
            <a:avLst>
              <a:gd name="adj" fmla="val 50000"/>
            </a:avLst>
          </a:prstGeom>
          <a:solidFill>
            <a:schemeClr val="accent1"/>
          </a:solidFill>
          <a:ln/>
        </p:spPr>
      </p:sp>
      <p:sp>
        <p:nvSpPr>
          <p:cNvPr id="12" name="Text 8"/>
          <p:cNvSpPr txBox="1"/>
          <p:nvPr/>
        </p:nvSpPr>
        <p:spPr>
          <a:xfrm>
            <a:off x="3457804" y="1371600"/>
            <a:ext cx="1051560" cy="310896"/>
          </a:xfrm>
          <a:prstGeom prst="rect">
            <a:avLst/>
          </a:prstGeom>
          <a:noFill/>
          <a:ln/>
        </p:spPr>
        <p:txBody>
          <a:bodyPr wrap="square" lIns="0" tIns="0" rIns="0" bIns="0" rtlCol="0" anchor="ctr"/>
          <a:lstStyle/>
          <a:p>
            <a:pPr algn="ctr" indent="0" marL="0">
              <a:buNone/>
            </a:pPr>
            <a:r>
              <a:rPr lang="en-US" sz="1300" b="1" dirty="0">
                <a:solidFill>
                  <a:schemeClr val="bg1"/>
                </a:solidFill>
              </a:rPr>
              <a:t>k = 5</a:t>
            </a:r>
            <a:endParaRPr lang="en-US" sz="1300" dirty="0"/>
          </a:p>
        </p:txBody>
      </p:sp>
      <p:sp>
        <p:nvSpPr>
          <p:cNvPr id="13" name="desc k = 5"/>
          <p:cNvSpPr txBox="1"/>
          <p:nvPr/>
        </p:nvSpPr>
        <p:spPr>
          <a:xfrm>
            <a:off x="3092044" y="1700784"/>
            <a:ext cx="1783080" cy="274320"/>
          </a:xfrm>
          <a:prstGeom prst="rect">
            <a:avLst/>
          </a:prstGeom>
          <a:noFill/>
          <a:ln/>
        </p:spPr>
        <p:txBody>
          <a:bodyPr wrap="square" lIns="0" tIns="0" rIns="0" bIns="0" rtlCol="0" anchor="ctr"/>
          <a:lstStyle/>
          <a:p>
            <a:pPr algn="ctr" indent="0" marL="0">
              <a:buNone/>
            </a:pPr>
            <a:r>
              <a:rPr lang="en-US" sz="1200" i="1" dirty="0">
                <a:solidFill>
                  <a:schemeClr val="tx2"/>
                </a:solidFill>
              </a:rPr>
              <a:t>silhouette, streaks</a:t>
            </a:r>
            <a:endParaRPr lang="en-US" sz="1200" dirty="0"/>
          </a:p>
        </p:txBody>
      </p:sp>
      <p:pic>
        <p:nvPicPr>
          <p:cNvPr id="14" name="gray k = 5 image" descr="assets/gray_k5.png">    </p:cNvPr>
          <p:cNvPicPr>
            <a:picLocks noChangeAspect="1"/>
          </p:cNvPicPr>
          <p:nvPr/>
        </p:nvPicPr>
        <p:blipFill>
          <a:blip r:embed="rId3"/>
          <a:stretch>
            <a:fillRect/>
          </a:stretch>
        </p:blipFill>
        <p:spPr>
          <a:xfrm>
            <a:off x="3092044" y="2057400"/>
            <a:ext cx="1783080" cy="1783080"/>
          </a:xfrm>
          <a:prstGeom prst="rect">
            <a:avLst/>
          </a:prstGeom>
        </p:spPr>
      </p:pic>
      <p:sp>
        <p:nvSpPr>
          <p:cNvPr id="15" name="gray k = 5 label"/>
          <p:cNvSpPr txBox="1"/>
          <p:nvPr/>
        </p:nvSpPr>
        <p:spPr>
          <a:xfrm>
            <a:off x="3000604" y="387705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20.0 dB  ·  98.0% saved</a:t>
            </a:r>
            <a:endParaRPr lang="en-US" sz="1200" dirty="0"/>
          </a:p>
        </p:txBody>
      </p:sp>
      <p:pic>
        <p:nvPicPr>
          <p:cNvPr id="16" name="rgb k = 5 image" descr="assets/rgb_k5.png">    </p:cNvPr>
          <p:cNvPicPr>
            <a:picLocks noChangeAspect="1"/>
          </p:cNvPicPr>
          <p:nvPr/>
        </p:nvPicPr>
        <p:blipFill>
          <a:blip r:embed="rId4"/>
          <a:stretch>
            <a:fillRect/>
          </a:stretch>
        </p:blipFill>
        <p:spPr>
          <a:xfrm>
            <a:off x="3092044" y="4251960"/>
            <a:ext cx="1783080" cy="1783080"/>
          </a:xfrm>
          <a:prstGeom prst="rect">
            <a:avLst/>
          </a:prstGeom>
        </p:spPr>
      </p:pic>
      <p:sp>
        <p:nvSpPr>
          <p:cNvPr id="17" name="rgb k = 5 label"/>
          <p:cNvSpPr txBox="1"/>
          <p:nvPr/>
        </p:nvSpPr>
        <p:spPr>
          <a:xfrm>
            <a:off x="3000604" y="607161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16.2 dB  ·  98.0% saved</a:t>
            </a:r>
            <a:endParaRPr lang="en-US" sz="1200" dirty="0"/>
          </a:p>
        </p:txBody>
      </p:sp>
      <p:sp>
        <p:nvSpPr>
          <p:cNvPr id="18" name="col k = 20 pill"/>
          <p:cNvSpPr/>
          <p:nvPr/>
        </p:nvSpPr>
        <p:spPr>
          <a:xfrm>
            <a:off x="5570068" y="1371600"/>
            <a:ext cx="1051560" cy="310896"/>
          </a:xfrm>
          <a:prstGeom prst="roundRect">
            <a:avLst>
              <a:gd name="adj" fmla="val 50000"/>
            </a:avLst>
          </a:prstGeom>
          <a:solidFill>
            <a:schemeClr val="accent1"/>
          </a:solidFill>
          <a:ln/>
        </p:spPr>
      </p:sp>
      <p:sp>
        <p:nvSpPr>
          <p:cNvPr id="19" name="Text 13"/>
          <p:cNvSpPr txBox="1"/>
          <p:nvPr/>
        </p:nvSpPr>
        <p:spPr>
          <a:xfrm>
            <a:off x="5570068" y="1371600"/>
            <a:ext cx="1051560" cy="310896"/>
          </a:xfrm>
          <a:prstGeom prst="rect">
            <a:avLst/>
          </a:prstGeom>
          <a:noFill/>
          <a:ln/>
        </p:spPr>
        <p:txBody>
          <a:bodyPr wrap="square" lIns="0" tIns="0" rIns="0" bIns="0" rtlCol="0" anchor="ctr"/>
          <a:lstStyle/>
          <a:p>
            <a:pPr algn="ctr" indent="0" marL="0">
              <a:buNone/>
            </a:pPr>
            <a:r>
              <a:rPr lang="en-US" sz="1300" b="1" dirty="0">
                <a:solidFill>
                  <a:schemeClr val="bg1"/>
                </a:solidFill>
              </a:rPr>
              <a:t>k = 20</a:t>
            </a:r>
            <a:endParaRPr lang="en-US" sz="1300" dirty="0"/>
          </a:p>
        </p:txBody>
      </p:sp>
      <p:sp>
        <p:nvSpPr>
          <p:cNvPr id="20" name="desc k = 20"/>
          <p:cNvSpPr txBox="1"/>
          <p:nvPr/>
        </p:nvSpPr>
        <p:spPr>
          <a:xfrm>
            <a:off x="5204308" y="1700784"/>
            <a:ext cx="1783080" cy="274320"/>
          </a:xfrm>
          <a:prstGeom prst="rect">
            <a:avLst/>
          </a:prstGeom>
          <a:noFill/>
          <a:ln/>
        </p:spPr>
        <p:txBody>
          <a:bodyPr wrap="square" lIns="0" tIns="0" rIns="0" bIns="0" rtlCol="0" anchor="ctr"/>
          <a:lstStyle/>
          <a:p>
            <a:pPr algn="ctr" indent="0" marL="0">
              <a:buNone/>
            </a:pPr>
            <a:r>
              <a:rPr lang="en-US" sz="1200" i="1" dirty="0">
                <a:solidFill>
                  <a:schemeClr val="tx2"/>
                </a:solidFill>
              </a:rPr>
              <a:t>soft, edge ringing</a:t>
            </a:r>
            <a:endParaRPr lang="en-US" sz="1200" dirty="0"/>
          </a:p>
        </p:txBody>
      </p:sp>
      <p:pic>
        <p:nvPicPr>
          <p:cNvPr id="21" name="gray k = 20 image" descr="assets/gray_k20.png">    </p:cNvPr>
          <p:cNvPicPr>
            <a:picLocks noChangeAspect="1"/>
          </p:cNvPicPr>
          <p:nvPr/>
        </p:nvPicPr>
        <p:blipFill>
          <a:blip r:embed="rId5"/>
          <a:stretch>
            <a:fillRect/>
          </a:stretch>
        </p:blipFill>
        <p:spPr>
          <a:xfrm>
            <a:off x="5204308" y="2057400"/>
            <a:ext cx="1783080" cy="1783080"/>
          </a:xfrm>
          <a:prstGeom prst="rect">
            <a:avLst/>
          </a:prstGeom>
        </p:spPr>
      </p:pic>
      <p:sp>
        <p:nvSpPr>
          <p:cNvPr id="22" name="gray k = 20 label"/>
          <p:cNvSpPr txBox="1"/>
          <p:nvPr/>
        </p:nvSpPr>
        <p:spPr>
          <a:xfrm>
            <a:off x="5112868" y="387705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24.6 dB  ·  92.2% saved</a:t>
            </a:r>
            <a:endParaRPr lang="en-US" sz="1200" dirty="0"/>
          </a:p>
        </p:txBody>
      </p:sp>
      <p:pic>
        <p:nvPicPr>
          <p:cNvPr id="23" name="rgb k = 20 image" descr="assets/rgb_k20.png">    </p:cNvPr>
          <p:cNvPicPr>
            <a:picLocks noChangeAspect="1"/>
          </p:cNvPicPr>
          <p:nvPr/>
        </p:nvPicPr>
        <p:blipFill>
          <a:blip r:embed="rId6"/>
          <a:stretch>
            <a:fillRect/>
          </a:stretch>
        </p:blipFill>
        <p:spPr>
          <a:xfrm>
            <a:off x="5204308" y="4251960"/>
            <a:ext cx="1783080" cy="1783080"/>
          </a:xfrm>
          <a:prstGeom prst="rect">
            <a:avLst/>
          </a:prstGeom>
        </p:spPr>
      </p:pic>
      <p:sp>
        <p:nvSpPr>
          <p:cNvPr id="24" name="rgb k = 20 label"/>
          <p:cNvSpPr txBox="1"/>
          <p:nvPr/>
        </p:nvSpPr>
        <p:spPr>
          <a:xfrm>
            <a:off x="5112868" y="607161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22.2 dB  ·  92.2% saved</a:t>
            </a:r>
            <a:endParaRPr lang="en-US" sz="1200" dirty="0"/>
          </a:p>
        </p:txBody>
      </p:sp>
      <p:sp>
        <p:nvSpPr>
          <p:cNvPr id="25" name="col k = 50 pill"/>
          <p:cNvSpPr/>
          <p:nvPr/>
        </p:nvSpPr>
        <p:spPr>
          <a:xfrm>
            <a:off x="7682332" y="1371600"/>
            <a:ext cx="1051560" cy="310896"/>
          </a:xfrm>
          <a:prstGeom prst="roundRect">
            <a:avLst>
              <a:gd name="adj" fmla="val 50000"/>
            </a:avLst>
          </a:prstGeom>
          <a:solidFill>
            <a:schemeClr val="accent1"/>
          </a:solidFill>
          <a:ln/>
        </p:spPr>
      </p:sp>
      <p:sp>
        <p:nvSpPr>
          <p:cNvPr id="26" name="Text 18"/>
          <p:cNvSpPr txBox="1"/>
          <p:nvPr/>
        </p:nvSpPr>
        <p:spPr>
          <a:xfrm>
            <a:off x="7682332" y="1371600"/>
            <a:ext cx="1051560" cy="310896"/>
          </a:xfrm>
          <a:prstGeom prst="rect">
            <a:avLst/>
          </a:prstGeom>
          <a:noFill/>
          <a:ln/>
        </p:spPr>
        <p:txBody>
          <a:bodyPr wrap="square" lIns="0" tIns="0" rIns="0" bIns="0" rtlCol="0" anchor="ctr"/>
          <a:lstStyle/>
          <a:p>
            <a:pPr algn="ctr" indent="0" marL="0">
              <a:buNone/>
            </a:pPr>
            <a:r>
              <a:rPr lang="en-US" sz="1300" b="1" dirty="0">
                <a:solidFill>
                  <a:schemeClr val="bg1"/>
                </a:solidFill>
              </a:rPr>
              <a:t>k = 50</a:t>
            </a:r>
            <a:endParaRPr lang="en-US" sz="1300" dirty="0"/>
          </a:p>
        </p:txBody>
      </p:sp>
      <p:sp>
        <p:nvSpPr>
          <p:cNvPr id="27" name="desc k = 50"/>
          <p:cNvSpPr txBox="1"/>
          <p:nvPr/>
        </p:nvSpPr>
        <p:spPr>
          <a:xfrm>
            <a:off x="7316572" y="1700784"/>
            <a:ext cx="1783080" cy="274320"/>
          </a:xfrm>
          <a:prstGeom prst="rect">
            <a:avLst/>
          </a:prstGeom>
          <a:noFill/>
          <a:ln/>
        </p:spPr>
        <p:txBody>
          <a:bodyPr wrap="square" lIns="0" tIns="0" rIns="0" bIns="0" rtlCol="0" anchor="ctr"/>
          <a:lstStyle/>
          <a:p>
            <a:pPr algn="ctr" indent="0" marL="0">
              <a:buNone/>
            </a:pPr>
            <a:r>
              <a:rPr lang="en-US" sz="1200" i="1" dirty="0">
                <a:solidFill>
                  <a:schemeClr val="tx2"/>
                </a:solidFill>
              </a:rPr>
              <a:t>good at thumbnail size</a:t>
            </a:r>
            <a:endParaRPr lang="en-US" sz="1200" dirty="0"/>
          </a:p>
        </p:txBody>
      </p:sp>
      <p:pic>
        <p:nvPicPr>
          <p:cNvPr id="28" name="gray k = 50 image" descr="assets/gray_k50.png">    </p:cNvPr>
          <p:cNvPicPr>
            <a:picLocks noChangeAspect="1"/>
          </p:cNvPicPr>
          <p:nvPr/>
        </p:nvPicPr>
        <p:blipFill>
          <a:blip r:embed="rId7"/>
          <a:stretch>
            <a:fillRect/>
          </a:stretch>
        </p:blipFill>
        <p:spPr>
          <a:xfrm>
            <a:off x="7316572" y="2057400"/>
            <a:ext cx="1783080" cy="1783080"/>
          </a:xfrm>
          <a:prstGeom prst="rect">
            <a:avLst/>
          </a:prstGeom>
        </p:spPr>
      </p:pic>
      <p:sp>
        <p:nvSpPr>
          <p:cNvPr id="29" name="gray k = 50 label"/>
          <p:cNvSpPr txBox="1"/>
          <p:nvPr/>
        </p:nvSpPr>
        <p:spPr>
          <a:xfrm>
            <a:off x="7225132" y="387705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28.6 dB  ·  80.4% saved</a:t>
            </a:r>
            <a:endParaRPr lang="en-US" sz="1200" dirty="0"/>
          </a:p>
        </p:txBody>
      </p:sp>
      <p:pic>
        <p:nvPicPr>
          <p:cNvPr id="30" name="rgb k = 50 image" descr="assets/rgb_k50.png">    </p:cNvPr>
          <p:cNvPicPr>
            <a:picLocks noChangeAspect="1"/>
          </p:cNvPicPr>
          <p:nvPr/>
        </p:nvPicPr>
        <p:blipFill>
          <a:blip r:embed="rId8"/>
          <a:stretch>
            <a:fillRect/>
          </a:stretch>
        </p:blipFill>
        <p:spPr>
          <a:xfrm>
            <a:off x="7316572" y="4251960"/>
            <a:ext cx="1783080" cy="1783080"/>
          </a:xfrm>
          <a:prstGeom prst="rect">
            <a:avLst/>
          </a:prstGeom>
        </p:spPr>
      </p:pic>
      <p:sp>
        <p:nvSpPr>
          <p:cNvPr id="31" name="rgb k = 50 label"/>
          <p:cNvSpPr txBox="1"/>
          <p:nvPr/>
        </p:nvSpPr>
        <p:spPr>
          <a:xfrm>
            <a:off x="7225132" y="607161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27.4 dB  ·  80.4% saved</a:t>
            </a:r>
            <a:endParaRPr lang="en-US" sz="1200" dirty="0"/>
          </a:p>
        </p:txBody>
      </p:sp>
      <p:sp>
        <p:nvSpPr>
          <p:cNvPr id="32" name="col k = 100 pill"/>
          <p:cNvSpPr/>
          <p:nvPr/>
        </p:nvSpPr>
        <p:spPr>
          <a:xfrm>
            <a:off x="9794596" y="1371600"/>
            <a:ext cx="1051560" cy="310896"/>
          </a:xfrm>
          <a:prstGeom prst="roundRect">
            <a:avLst>
              <a:gd name="adj" fmla="val 50000"/>
            </a:avLst>
          </a:prstGeom>
          <a:solidFill>
            <a:schemeClr val="accent1"/>
          </a:solidFill>
          <a:ln/>
        </p:spPr>
      </p:sp>
      <p:sp>
        <p:nvSpPr>
          <p:cNvPr id="33" name="Text 23"/>
          <p:cNvSpPr txBox="1"/>
          <p:nvPr/>
        </p:nvSpPr>
        <p:spPr>
          <a:xfrm>
            <a:off x="9794596" y="1371600"/>
            <a:ext cx="1051560" cy="310896"/>
          </a:xfrm>
          <a:prstGeom prst="rect">
            <a:avLst/>
          </a:prstGeom>
          <a:noFill/>
          <a:ln/>
        </p:spPr>
        <p:txBody>
          <a:bodyPr wrap="square" lIns="0" tIns="0" rIns="0" bIns="0" rtlCol="0" anchor="ctr"/>
          <a:lstStyle/>
          <a:p>
            <a:pPr algn="ctr" indent="0" marL="0">
              <a:buNone/>
            </a:pPr>
            <a:r>
              <a:rPr lang="en-US" sz="1300" b="1" dirty="0">
                <a:solidFill>
                  <a:schemeClr val="bg1"/>
                </a:solidFill>
              </a:rPr>
              <a:t>k = 100</a:t>
            </a:r>
            <a:endParaRPr lang="en-US" sz="1300" dirty="0"/>
          </a:p>
        </p:txBody>
      </p:sp>
      <p:sp>
        <p:nvSpPr>
          <p:cNvPr id="34" name="desc k = 100"/>
          <p:cNvSpPr txBox="1"/>
          <p:nvPr/>
        </p:nvSpPr>
        <p:spPr>
          <a:xfrm>
            <a:off x="9428836" y="1700784"/>
            <a:ext cx="1783080" cy="274320"/>
          </a:xfrm>
          <a:prstGeom prst="rect">
            <a:avLst/>
          </a:prstGeom>
          <a:noFill/>
          <a:ln/>
        </p:spPr>
        <p:txBody>
          <a:bodyPr wrap="square" lIns="0" tIns="0" rIns="0" bIns="0" rtlCol="0" anchor="ctr"/>
          <a:lstStyle/>
          <a:p>
            <a:pPr algn="ctr" indent="0" marL="0">
              <a:buNone/>
            </a:pPr>
            <a:r>
              <a:rPr lang="en-US" sz="1200" i="1" dirty="0">
                <a:solidFill>
                  <a:schemeClr val="tx2"/>
                </a:solidFill>
              </a:rPr>
              <a:t>near-original</a:t>
            </a:r>
            <a:endParaRPr lang="en-US" sz="1200" dirty="0"/>
          </a:p>
        </p:txBody>
      </p:sp>
      <p:pic>
        <p:nvPicPr>
          <p:cNvPr id="35" name="gray k = 100 image" descr="assets/gray_k100.png">    </p:cNvPr>
          <p:cNvPicPr>
            <a:picLocks noChangeAspect="1"/>
          </p:cNvPicPr>
          <p:nvPr/>
        </p:nvPicPr>
        <p:blipFill>
          <a:blip r:embed="rId9"/>
          <a:stretch>
            <a:fillRect/>
          </a:stretch>
        </p:blipFill>
        <p:spPr>
          <a:xfrm>
            <a:off x="9428836" y="2057400"/>
            <a:ext cx="1783080" cy="1783080"/>
          </a:xfrm>
          <a:prstGeom prst="rect">
            <a:avLst/>
          </a:prstGeom>
        </p:spPr>
      </p:pic>
      <p:sp>
        <p:nvSpPr>
          <p:cNvPr id="36" name="gray k = 100 label"/>
          <p:cNvSpPr txBox="1"/>
          <p:nvPr/>
        </p:nvSpPr>
        <p:spPr>
          <a:xfrm>
            <a:off x="9337396" y="387705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32.8 dB  ·  60.9% saved</a:t>
            </a:r>
            <a:endParaRPr lang="en-US" sz="1200" dirty="0"/>
          </a:p>
        </p:txBody>
      </p:sp>
      <p:pic>
        <p:nvPicPr>
          <p:cNvPr id="37" name="rgb k = 100 image" descr="assets/rgb_k100.png">    </p:cNvPr>
          <p:cNvPicPr>
            <a:picLocks noChangeAspect="1"/>
          </p:cNvPicPr>
          <p:nvPr/>
        </p:nvPicPr>
        <p:blipFill>
          <a:blip r:embed="rId10"/>
          <a:stretch>
            <a:fillRect/>
          </a:stretch>
        </p:blipFill>
        <p:spPr>
          <a:xfrm>
            <a:off x="9428836" y="4251960"/>
            <a:ext cx="1783080" cy="1783080"/>
          </a:xfrm>
          <a:prstGeom prst="rect">
            <a:avLst/>
          </a:prstGeom>
        </p:spPr>
      </p:pic>
      <p:sp>
        <p:nvSpPr>
          <p:cNvPr id="38" name="rgb k = 100 label"/>
          <p:cNvSpPr txBox="1"/>
          <p:nvPr/>
        </p:nvSpPr>
        <p:spPr>
          <a:xfrm>
            <a:off x="9337396" y="6071616"/>
            <a:ext cx="1965960" cy="274320"/>
          </a:xfrm>
          <a:prstGeom prst="rect">
            <a:avLst/>
          </a:prstGeom>
          <a:noFill/>
          <a:ln/>
        </p:spPr>
        <p:txBody>
          <a:bodyPr wrap="square" lIns="0" tIns="0" rIns="0" bIns="0" rtlCol="0" anchor="ctr"/>
          <a:lstStyle/>
          <a:p>
            <a:pPr algn="ctr" indent="0" marL="0">
              <a:buNone/>
            </a:pPr>
            <a:r>
              <a:rPr lang="en-US" sz="1200" b="1" dirty="0">
                <a:solidFill>
                  <a:schemeClr val="tx1"/>
                </a:solidFill>
              </a:rPr>
              <a:t>32.9 dB  ·  60.9% saved</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QUANTITATIVE TRADE-OFFS  ·  PSNR, MSE AND STORAGE REDUCTION</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PSNR keeps rising, but each extra decibel costs more storage</a:t>
            </a:r>
            <a:endParaRPr lang="en-US" sz="3000" dirty="0"/>
          </a:p>
        </p:txBody>
      </p:sp>
      <p:graphicFrame>
        <p:nvGraphicFramePr>
          <p:cNvPr id="4" name="PSNR vs k chart" descr=""/>
          <p:cNvGraphicFramePr/>
          <p:nvPr/>
        </p:nvGraphicFramePr>
        <p:xfrm>
          <a:off x="457200" y="1417320"/>
          <a:ext cx="6309360" cy="4800600"/>
        </p:xfrm>
        <a:graphic xmlns:a="http://schemas.openxmlformats.org/drawingml/2006/main">
          <a:graphicData uri="http://schemas.openxmlformats.org/drawingml/2006/chart">
            <c:chart xmlns:c="http://schemas.openxmlformats.org/drawingml/2006/chart" r:id="rId1"/>
          </a:graphicData>
        </a:graphic>
      </p:graphicFrame>
      <p:sp>
        <p:nvSpPr>
          <p:cNvPr id="5" name="table heading"/>
          <p:cNvSpPr txBox="1"/>
          <p:nvPr/>
        </p:nvSpPr>
        <p:spPr>
          <a:xfrm>
            <a:off x="7086600" y="1463040"/>
            <a:ext cx="4572000" cy="292608"/>
          </a:xfrm>
          <a:prstGeom prst="rect">
            <a:avLst/>
          </a:prstGeom>
          <a:noFill/>
          <a:ln/>
        </p:spPr>
        <p:txBody>
          <a:bodyPr wrap="square" lIns="0" tIns="0" rIns="0" bIns="0" rtlCol="0" anchor="ctr"/>
          <a:lstStyle/>
          <a:p>
            <a:pPr indent="0" marL="0">
              <a:buNone/>
            </a:pPr>
            <a:r>
              <a:rPr lang="en-US" sz="1400" b="1" dirty="0">
                <a:solidFill>
                  <a:schemeClr val="tx1"/>
                </a:solidFill>
              </a:rPr>
              <a:t>Grayscale, cameraman 512 × 512 (262,144 values raw)</a:t>
            </a:r>
            <a:endParaRPr lang="en-US" sz="1400" dirty="0"/>
          </a:p>
        </p:txBody>
      </p:sp>
      <p:graphicFrame>
        <p:nvGraphicFramePr>
          <p:cNvPr id="6" name="metrics table"/>
          <p:cNvGraphicFramePr>
            <a:graphicFrameLocks noGrp="1"/>
          </p:cNvGraphicFramePr>
          <p:nvPr>
            <p:extLst>
              <p:ext uri="{D42A27DB-BD31-4B8C-83A1-F6EECF244321}">
                <p14:modId xmlns:p14="http://schemas.microsoft.com/office/powerpoint/2010/main" val="1579011935"/>
              </p:ext>
            </p:extLst>
          </p:nvPr>
        </p:nvGraphicFramePr>
        <p:xfrm>
          <a:off x="7086600" y="1828800"/>
          <a:ext cx="4572000" cy="914400"/>
        </p:xfrm>
        <a:graphic>
          <a:graphicData uri="http://schemas.openxmlformats.org/drawingml/2006/table">
            <a:tbl>
              <a:tblPr/>
              <a:tblGrid>
                <a:gridCol w="457200"/>
                <a:gridCol w="1051560"/>
                <a:gridCol w="731520"/>
                <a:gridCol w="685800"/>
                <a:gridCol w="868680"/>
                <a:gridCol w="777240"/>
              </a:tblGrid>
              <a:tr h="329184">
                <a:tc>
                  <a:txBody>
                    <a:bodyPr/>
                    <a:lstStyle/>
                    <a:p>
                      <a:pPr algn="ctr" indent="0" marL="0">
                        <a:buNone/>
                      </a:pPr>
                      <a:r>
                        <a:rPr lang="en-US" sz="1200" b="1" dirty="0">
                          <a:solidFill>
                            <a:srgbClr val="FFFFFF"/>
                          </a:solidFill>
                        </a:rPr>
                        <a:t>k</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2B3440"/>
                    </a:solidFill>
                  </a:tcPr>
                </a:tc>
                <a:tc>
                  <a:txBody>
                    <a:bodyPr/>
                    <a:lstStyle/>
                    <a:p>
                      <a:pPr algn="ctr" indent="0" marL="0">
                        <a:buNone/>
                      </a:pPr>
                      <a:r>
                        <a:rPr lang="en-US" sz="1200" b="1" dirty="0">
                          <a:solidFill>
                            <a:srgbClr val="FFFFFF"/>
                          </a:solidFill>
                        </a:rPr>
                        <a:t>Values stored</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2B3440"/>
                    </a:solidFill>
                  </a:tcPr>
                </a:tc>
                <a:tc>
                  <a:txBody>
                    <a:bodyPr/>
                    <a:lstStyle/>
                    <a:p>
                      <a:pPr algn="ctr" indent="0" marL="0">
                        <a:buNone/>
                      </a:pPr>
                      <a:r>
                        <a:rPr lang="en-US" sz="1200" b="1" dirty="0">
                          <a:solidFill>
                            <a:srgbClr val="FFFFFF"/>
                          </a:solidFill>
                        </a:rPr>
                        <a:t>Saved</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2B3440"/>
                    </a:solidFill>
                  </a:tcPr>
                </a:tc>
                <a:tc>
                  <a:txBody>
                    <a:bodyPr/>
                    <a:lstStyle/>
                    <a:p>
                      <a:pPr algn="ctr" indent="0" marL="0">
                        <a:buNone/>
                      </a:pPr>
                      <a:r>
                        <a:rPr lang="en-US" sz="1200" b="1" dirty="0">
                          <a:solidFill>
                            <a:srgbClr val="FFFFFF"/>
                          </a:solidFill>
                        </a:rPr>
                        <a:t>MSE</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2B3440"/>
                    </a:solidFill>
                  </a:tcPr>
                </a:tc>
                <a:tc>
                  <a:txBody>
                    <a:bodyPr/>
                    <a:lstStyle/>
                    <a:p>
                      <a:pPr algn="ctr" indent="0" marL="0">
                        <a:buNone/>
                      </a:pPr>
                      <a:r>
                        <a:rPr lang="en-US" sz="1200" b="1" dirty="0">
                          <a:solidFill>
                            <a:srgbClr val="FFFFFF"/>
                          </a:solidFill>
                        </a:rPr>
                        <a:t>PSNR</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2B3440"/>
                    </a:solidFill>
                  </a:tcPr>
                </a:tc>
                <a:tc>
                  <a:txBody>
                    <a:bodyPr/>
                    <a:lstStyle/>
                    <a:p>
                      <a:pPr algn="ctr" indent="0" marL="0">
                        <a:buNone/>
                      </a:pPr>
                      <a:r>
                        <a:rPr lang="en-US" sz="1200" b="1" dirty="0">
                          <a:solidFill>
                            <a:srgbClr val="FFFFFF"/>
                          </a:solidFill>
                        </a:rPr>
                        <a:t>Energy</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2B3440"/>
                    </a:solidFill>
                  </a:tcPr>
                </a:tc>
              </a:tr>
              <a:tr h="329184">
                <a:tc>
                  <a:txBody>
                    <a:bodyPr/>
                    <a:lstStyle/>
                    <a:p>
                      <a:pPr algn="ctr" indent="0" marL="0">
                        <a:buNone/>
                      </a:pPr>
                      <a:r>
                        <a:rPr lang="en-US" sz="1200" b="1" dirty="0">
                          <a:solidFill>
                            <a:srgbClr val="15181D"/>
                          </a:solidFill>
                        </a:rPr>
                        <a:t>5</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5,125</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98.0%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649.5</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20.0 dB</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97.0%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15181D"/>
                          </a:solidFill>
                        </a:rPr>
                        <a:t>20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20,500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92.2%</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224.6</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24.6 dB</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99.0%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15181D"/>
                          </a:solidFill>
                        </a:rPr>
                        <a:t>50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BD7"/>
                    </a:solidFill>
                  </a:tcPr>
                </a:tc>
                <a:tc>
                  <a:txBody>
                    <a:bodyPr/>
                    <a:lstStyle/>
                    <a:p>
                      <a:pPr algn="r" indent="0" marL="0">
                        <a:buNone/>
                      </a:pPr>
                      <a:r>
                        <a:rPr lang="en-US" sz="1200" b="1" dirty="0">
                          <a:solidFill>
                            <a:srgbClr val="15181D"/>
                          </a:solidFill>
                        </a:rPr>
                        <a:t>51,250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BD7"/>
                    </a:solidFill>
                  </a:tcPr>
                </a:tc>
                <a:tc>
                  <a:txBody>
                    <a:bodyPr/>
                    <a:lstStyle/>
                    <a:p>
                      <a:pPr algn="r" indent="0" marL="0">
                        <a:buNone/>
                      </a:pPr>
                      <a:r>
                        <a:rPr lang="en-US" sz="1200" b="1" dirty="0">
                          <a:solidFill>
                            <a:srgbClr val="15181D"/>
                          </a:solidFill>
                        </a:rPr>
                        <a:t>80.4%</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BD7"/>
                    </a:solidFill>
                  </a:tcPr>
                </a:tc>
                <a:tc>
                  <a:txBody>
                    <a:bodyPr/>
                    <a:lstStyle/>
                    <a:p>
                      <a:pPr algn="r" indent="0" marL="0">
                        <a:buNone/>
                      </a:pPr>
                      <a:r>
                        <a:rPr lang="en-US" sz="1200" b="1" dirty="0">
                          <a:solidFill>
                            <a:srgbClr val="15181D"/>
                          </a:solidFill>
                        </a:rPr>
                        <a:t>89.0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BD7"/>
                    </a:solidFill>
                  </a:tcPr>
                </a:tc>
                <a:tc>
                  <a:txBody>
                    <a:bodyPr/>
                    <a:lstStyle/>
                    <a:p>
                      <a:pPr algn="r" indent="0" marL="0">
                        <a:buNone/>
                      </a:pPr>
                      <a:r>
                        <a:rPr lang="en-US" sz="1200" b="1" dirty="0">
                          <a:solidFill>
                            <a:srgbClr val="15181D"/>
                          </a:solidFill>
                        </a:rPr>
                        <a:t>28.6 dB</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BD7"/>
                    </a:solidFill>
                  </a:tcPr>
                </a:tc>
                <a:tc>
                  <a:txBody>
                    <a:bodyPr/>
                    <a:lstStyle/>
                    <a:p>
                      <a:pPr algn="r" indent="0" marL="0">
                        <a:buNone/>
                      </a:pPr>
                      <a:r>
                        <a:rPr lang="en-US" sz="1200" b="1" dirty="0">
                          <a:solidFill>
                            <a:srgbClr val="15181D"/>
                          </a:solidFill>
                        </a:rPr>
                        <a:t>99.6%</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BD7"/>
                    </a:solidFill>
                  </a:tcPr>
                </a:tc>
              </a:tr>
              <a:tr h="329184">
                <a:tc>
                  <a:txBody>
                    <a:bodyPr/>
                    <a:lstStyle/>
                    <a:p>
                      <a:pPr algn="ctr" indent="0" marL="0">
                        <a:buNone/>
                      </a:pPr>
                      <a:r>
                        <a:rPr lang="en-US" sz="1200" b="1" dirty="0">
                          <a:solidFill>
                            <a:srgbClr val="15181D"/>
                          </a:solidFill>
                        </a:rPr>
                        <a:t>100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102,500</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60.9%</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34.1</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32.8 dB</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181D"/>
                          </a:solidFill>
                        </a:rPr>
                        <a:t>99.8%</a:t>
                      </a:r>
                      <a:endParaRPr lang="en-US" sz="1200" dirty="0"/>
                    </a:p>
                  </a:txBody>
                  <a:tcPr marL="73152" marR="73152" marT="0" marB="0">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r>
            </a:tbl>
          </a:graphicData>
        </a:graphic>
      </p:graphicFrame>
      <p:sp>
        <p:nvSpPr>
          <p:cNvPr id="7" name="energy card"/>
          <p:cNvSpPr/>
          <p:nvPr/>
        </p:nvSpPr>
        <p:spPr>
          <a:xfrm>
            <a:off x="7086600" y="3657600"/>
            <a:ext cx="4572000" cy="896112"/>
          </a:xfrm>
          <a:prstGeom prst="roundRect">
            <a:avLst>
              <a:gd name="adj" fmla="val 12245"/>
            </a:avLst>
          </a:prstGeom>
          <a:solidFill>
            <a:srgbClr val="F1F3F5"/>
          </a:solidFill>
          <a:ln/>
        </p:spPr>
      </p:sp>
      <p:sp>
        <p:nvSpPr>
          <p:cNvPr id="8" name="energy number"/>
          <p:cNvSpPr txBox="1"/>
          <p:nvPr/>
        </p:nvSpPr>
        <p:spPr>
          <a:xfrm>
            <a:off x="7269480" y="3694176"/>
            <a:ext cx="13716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97%</a:t>
            </a:r>
            <a:endParaRPr lang="en-US" sz="3000" dirty="0"/>
          </a:p>
        </p:txBody>
      </p:sp>
      <p:sp>
        <p:nvSpPr>
          <p:cNvPr id="9" name="energy text"/>
          <p:cNvSpPr txBox="1"/>
          <p:nvPr/>
        </p:nvSpPr>
        <p:spPr>
          <a:xfrm>
            <a:off x="8686800" y="3694176"/>
            <a:ext cx="2834640" cy="822960"/>
          </a:xfrm>
          <a:prstGeom prst="rect">
            <a:avLst/>
          </a:prstGeom>
          <a:noFill/>
          <a:ln/>
        </p:spPr>
        <p:txBody>
          <a:bodyPr wrap="square" lIns="0" tIns="0" rIns="0" bIns="0" rtlCol="0" anchor="ctr"/>
          <a:lstStyle/>
          <a:p>
            <a:pPr indent="0" marL="0">
              <a:buNone/>
            </a:pPr>
            <a:r>
              <a:rPr lang="en-US" sz="1300" dirty="0">
                <a:solidFill>
                  <a:schemeClr val="tx1"/>
                </a:solidFill>
              </a:rPr>
              <a:t>of the energy is kept at k = 5, yet PSNR is only 20 dB. Energy is a poor guide to how the image looks.</a:t>
            </a:r>
            <a:endParaRPr lang="en-US" sz="1300" dirty="0"/>
          </a:p>
        </p:txBody>
      </p:sp>
      <p:sp>
        <p:nvSpPr>
          <p:cNvPr id="10" name="returns card"/>
          <p:cNvSpPr/>
          <p:nvPr/>
        </p:nvSpPr>
        <p:spPr>
          <a:xfrm>
            <a:off x="7086600" y="4663440"/>
            <a:ext cx="4572000" cy="896112"/>
          </a:xfrm>
          <a:prstGeom prst="roundRect">
            <a:avLst>
              <a:gd name="adj" fmla="val 12245"/>
            </a:avLst>
          </a:prstGeom>
          <a:solidFill>
            <a:srgbClr val="F1F3F5"/>
          </a:solidFill>
          <a:ln/>
        </p:spPr>
      </p:sp>
      <p:sp>
        <p:nvSpPr>
          <p:cNvPr id="11" name="returns number"/>
          <p:cNvSpPr txBox="1"/>
          <p:nvPr/>
        </p:nvSpPr>
        <p:spPr>
          <a:xfrm>
            <a:off x="7269480" y="4700016"/>
            <a:ext cx="13716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0.08 dB</a:t>
            </a:r>
            <a:endParaRPr lang="en-US" sz="3000" dirty="0"/>
          </a:p>
        </p:txBody>
      </p:sp>
      <p:sp>
        <p:nvSpPr>
          <p:cNvPr id="12" name="returns text"/>
          <p:cNvSpPr txBox="1"/>
          <p:nvPr/>
        </p:nvSpPr>
        <p:spPr>
          <a:xfrm>
            <a:off x="8686800" y="4700016"/>
            <a:ext cx="2834640" cy="822960"/>
          </a:xfrm>
          <a:prstGeom prst="rect">
            <a:avLst/>
          </a:prstGeom>
          <a:noFill/>
          <a:ln/>
        </p:spPr>
        <p:txBody>
          <a:bodyPr wrap="square" lIns="0" tIns="0" rIns="0" bIns="0" rtlCol="0" anchor="ctr"/>
          <a:lstStyle/>
          <a:p>
            <a:pPr indent="0" marL="0">
              <a:buNone/>
            </a:pPr>
            <a:r>
              <a:rPr lang="en-US" sz="1300" dirty="0">
                <a:solidFill>
                  <a:schemeClr val="tx1"/>
                </a:solidFill>
              </a:rPr>
              <a:t>gained per 1,000 extra values from k = 50 to 100, down from 0.30 dB from k = 5 to 20: diminishing returns.</a:t>
            </a:r>
            <a:endParaRPr lang="en-US" sz="1300" dirty="0"/>
          </a:p>
        </p:txBody>
      </p:sp>
      <p:pic>
        <p:nvPicPr>
          <p:cNvPr id="13" name="eq_psnr" descr="assets/eq_psnr.png">    </p:cNvPr>
          <p:cNvPicPr>
            <a:picLocks noChangeAspect="1"/>
          </p:cNvPicPr>
          <p:nvPr/>
        </p:nvPicPr>
        <p:blipFill>
          <a:blip r:embed="rId2"/>
          <a:stretch>
            <a:fillRect/>
          </a:stretch>
        </p:blipFill>
        <p:spPr>
          <a:xfrm>
            <a:off x="7178040" y="5669280"/>
            <a:ext cx="2331720" cy="40416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CONCLUSION  ·  OPTIMAL RANK FOR PRODUCTION AND WEB USE</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Use k ≈ 50 for previews, but JPEG still wins on bytes</a:t>
            </a:r>
            <a:endParaRPr lang="en-US" sz="3000" dirty="0"/>
          </a:p>
        </p:txBody>
      </p:sp>
      <p:sp>
        <p:nvSpPr>
          <p:cNvPr id="4" name="recommendation card"/>
          <p:cNvSpPr/>
          <p:nvPr/>
        </p:nvSpPr>
        <p:spPr>
          <a:xfrm>
            <a:off x="548640" y="1508760"/>
            <a:ext cx="5120640" cy="2743200"/>
          </a:xfrm>
          <a:prstGeom prst="roundRect">
            <a:avLst>
              <a:gd name="adj" fmla="val 4000"/>
            </a:avLst>
          </a:prstGeom>
          <a:solidFill>
            <a:srgbClr val="2B3440"/>
          </a:solidFill>
          <a:ln/>
        </p:spPr>
      </p:sp>
      <p:sp>
        <p:nvSpPr>
          <p:cNvPr id="5" name="Text 3"/>
          <p:cNvSpPr txBox="1"/>
          <p:nvPr/>
        </p:nvSpPr>
        <p:spPr>
          <a:xfrm>
            <a:off x="822960" y="1645920"/>
            <a:ext cx="4572000" cy="320040"/>
          </a:xfrm>
          <a:prstGeom prst="rect">
            <a:avLst/>
          </a:prstGeom>
          <a:noFill/>
          <a:ln/>
        </p:spPr>
        <p:txBody>
          <a:bodyPr wrap="square" lIns="0" tIns="0" rIns="0" bIns="0" rtlCol="0" anchor="ctr"/>
          <a:lstStyle/>
          <a:p>
            <a:pPr indent="0" marL="0">
              <a:buNone/>
            </a:pPr>
            <a:r>
              <a:rPr lang="en-US" sz="1400" b="1" dirty="0">
                <a:solidFill>
                  <a:srgbClr val="A9B3BE"/>
                </a:solidFill>
              </a:rPr>
              <a:t>Recommended rank</a:t>
            </a:r>
            <a:endParaRPr lang="en-US" sz="1400" dirty="0"/>
          </a:p>
        </p:txBody>
      </p:sp>
      <p:sp>
        <p:nvSpPr>
          <p:cNvPr id="6" name="k recommendation"/>
          <p:cNvSpPr txBox="1"/>
          <p:nvPr/>
        </p:nvSpPr>
        <p:spPr>
          <a:xfrm>
            <a:off x="822960" y="1965960"/>
            <a:ext cx="4572000" cy="91440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k ≈ 50</a:t>
            </a:r>
            <a:endParaRPr lang="en-US" sz="6000" dirty="0"/>
          </a:p>
        </p:txBody>
      </p:sp>
      <p:sp>
        <p:nvSpPr>
          <p:cNvPr id="7" name="recommendation points"/>
          <p:cNvSpPr txBox="1"/>
          <p:nvPr/>
        </p:nvSpPr>
        <p:spPr>
          <a:xfrm>
            <a:off x="822960" y="2926080"/>
            <a:ext cx="4572000" cy="1234440"/>
          </a:xfrm>
          <a:prstGeom prst="rect">
            <a:avLst/>
          </a:prstGeom>
          <a:noFill/>
          <a:ln/>
        </p:spPr>
        <p:txBody>
          <a:bodyPr wrap="square" lIns="0" tIns="0" rIns="0" bIns="0" rtlCol="0" anchor="t"/>
          <a:lstStyle/>
          <a:p>
            <a:pPr indent="0" marL="0">
              <a:spcAft>
                <a:spcPts val="500"/>
              </a:spcAft>
              <a:buNone/>
            </a:pPr>
            <a:r>
              <a:rPr lang="en-US" sz="1500" i="1" dirty="0">
                <a:solidFill>
                  <a:srgbClr val="A9B3BE"/>
                </a:solidFill>
              </a:rPr>
              <a:t>about 10% of full rank</a:t>
            </a:r>
            <a:endParaRPr lang="en-US" sz="1500" dirty="0"/>
          </a:p>
          <a:p>
            <a:pPr marL="342900" indent="-342900">
              <a:spcAft>
                <a:spcPts val="500"/>
              </a:spcAft>
              <a:buSzPct val="100000"/>
              <a:buChar char="•"/>
            </a:pPr>
            <a:r>
              <a:rPr lang="en-US" sz="1500" dirty="0">
                <a:solidFill>
                  <a:schemeClr val="bg1"/>
                </a:solidFill>
              </a:rPr>
              <a:t>80.4% fewer values to store</a:t>
            </a:r>
            <a:endParaRPr lang="en-US" sz="1500" dirty="0"/>
          </a:p>
          <a:p>
            <a:pPr marL="342900" indent="-342900">
              <a:spcAft>
                <a:spcPts val="500"/>
              </a:spcAft>
              <a:buSzPct val="100000"/>
              <a:buChar char="•"/>
            </a:pPr>
            <a:r>
              <a:rPr lang="en-US" sz="1500" dirty="0">
                <a:solidFill>
                  <a:schemeClr val="bg1"/>
                </a:solidFill>
              </a:rPr>
              <a:t>27.4–28.6 dB: good at preview size</a:t>
            </a:r>
            <a:endParaRPr lang="en-US" sz="1500" dirty="0"/>
          </a:p>
          <a:p>
            <a:pPr marL="342900" indent="-342900">
              <a:spcAft>
                <a:spcPts val="500"/>
              </a:spcAft>
              <a:buSzPct val="100000"/>
              <a:buChar char="•"/>
            </a:pPr>
            <a:r>
              <a:rPr lang="en-US" sz="1500" dirty="0">
                <a:solidFill>
                  <a:schemeClr val="bg1"/>
                </a:solidFill>
              </a:rPr>
              <a:t>the knee of the quality curve</a:t>
            </a:r>
            <a:endParaRPr lang="en-US" sz="1500" dirty="0"/>
          </a:p>
        </p:txBody>
      </p:sp>
      <p:sp>
        <p:nvSpPr>
          <p:cNvPr id="8" name="full-size card"/>
          <p:cNvSpPr/>
          <p:nvPr/>
        </p:nvSpPr>
        <p:spPr>
          <a:xfrm>
            <a:off x="548640" y="4434840"/>
            <a:ext cx="5120640" cy="1828800"/>
          </a:xfrm>
          <a:prstGeom prst="roundRect">
            <a:avLst>
              <a:gd name="adj" fmla="val 6000"/>
            </a:avLst>
          </a:prstGeom>
          <a:solidFill>
            <a:srgbClr val="2B3440"/>
          </a:solidFill>
          <a:ln/>
        </p:spPr>
      </p:sp>
      <p:sp>
        <p:nvSpPr>
          <p:cNvPr id="9" name="kstar label"/>
          <p:cNvSpPr txBox="1"/>
          <p:nvPr/>
        </p:nvSpPr>
        <p:spPr>
          <a:xfrm>
            <a:off x="822960" y="4572000"/>
            <a:ext cx="4572000" cy="868680"/>
          </a:xfrm>
          <a:prstGeom prst="rect">
            <a:avLst/>
          </a:prstGeom>
          <a:noFill/>
          <a:ln/>
        </p:spPr>
        <p:txBody>
          <a:bodyPr wrap="square" lIns="0" tIns="0" rIns="0" bIns="0" rtlCol="0" anchor="t"/>
          <a:lstStyle/>
          <a:p>
            <a:pPr indent="0" marL="0">
              <a:spcAft>
                <a:spcPts val="400"/>
              </a:spcAft>
              <a:buNone/>
            </a:pPr>
            <a:r>
              <a:rPr lang="en-US" sz="1400" b="1" dirty="0">
                <a:solidFill>
                  <a:srgbClr val="A9B3BE"/>
                </a:solidFill>
              </a:rPr>
              <a:t>Full-size images</a:t>
            </a:r>
            <a:endParaRPr lang="en-US" sz="1400" dirty="0"/>
          </a:p>
          <a:p>
            <a:pPr indent="0" marL="0">
              <a:spcAft>
                <a:spcPts val="400"/>
              </a:spcAft>
              <a:buNone/>
            </a:pPr>
            <a:r>
              <a:rPr lang="en-US" sz="1400" dirty="0">
                <a:solidFill>
                  <a:schemeClr val="bg1"/>
                </a:solidFill>
              </a:rPr>
              <a:t>Pick the smallest k that meets a quality target, not a fixed fraction. For 30 dB: k = 64 (grayscale), k = 72 (colour).</a:t>
            </a:r>
            <a:endParaRPr lang="en-US" sz="1400" dirty="0"/>
          </a:p>
        </p:txBody>
      </p:sp>
      <p:pic>
        <p:nvPicPr>
          <p:cNvPr id="10" name="eq_kstar" descr="assets/eq_kstar.png">    </p:cNvPr>
          <p:cNvPicPr>
            <a:picLocks noChangeAspect="1"/>
          </p:cNvPicPr>
          <p:nvPr/>
        </p:nvPicPr>
        <p:blipFill>
          <a:blip r:embed="rId1"/>
          <a:stretch>
            <a:fillRect/>
          </a:stretch>
        </p:blipFill>
        <p:spPr>
          <a:xfrm>
            <a:off x="822960" y="5559552"/>
            <a:ext cx="3329178" cy="352349"/>
          </a:xfrm>
          <a:prstGeom prst="rect">
            <a:avLst/>
          </a:prstGeom>
        </p:spPr>
      </p:pic>
      <p:graphicFrame>
        <p:nvGraphicFramePr>
          <p:cNvPr id="11" name="bytes chart" descr=""/>
          <p:cNvGraphicFramePr/>
          <p:nvPr/>
        </p:nvGraphicFramePr>
        <p:xfrm>
          <a:off x="6035040" y="1508760"/>
          <a:ext cx="5623560" cy="3566160"/>
        </p:xfrm>
        <a:graphic xmlns:a="http://schemas.openxmlformats.org/drawingml/2006/main">
          <a:graphicData uri="http://schemas.openxmlformats.org/drawingml/2006/chart">
            <c:chart xmlns:c="http://schemas.openxmlformats.org/drawingml/2006/chart" r:id="rId2"/>
          </a:graphicData>
        </a:graphic>
      </p:graphicFrame>
      <p:sp>
        <p:nvSpPr>
          <p:cNvPr id="12" name="jpeg note"/>
          <p:cNvSpPr txBox="1"/>
          <p:nvPr/>
        </p:nvSpPr>
        <p:spPr>
          <a:xfrm>
            <a:off x="6035040" y="5074920"/>
            <a:ext cx="5623560" cy="320040"/>
          </a:xfrm>
          <a:prstGeom prst="rect">
            <a:avLst/>
          </a:prstGeom>
          <a:noFill/>
          <a:ln/>
        </p:spPr>
        <p:txBody>
          <a:bodyPr wrap="square" lIns="0" tIns="0" rIns="0" bIns="0" rtlCol="0" anchor="ctr"/>
          <a:lstStyle/>
          <a:p>
            <a:pPr indent="0" marL="0">
              <a:buNone/>
            </a:pPr>
            <a:r>
              <a:rPr lang="en-US" sz="1300" dirty="0">
                <a:solidFill>
                  <a:srgbClr val="A9B3BE"/>
                </a:solidFill>
              </a:rPr>
              <a:t>JPEG reaches the same PSNR in 9–24× fewer bytes at every rank we tested.</a:t>
            </a:r>
            <a:endParaRPr lang="en-US" sz="1300" dirty="0"/>
          </a:p>
        </p:txBody>
      </p:sp>
      <p:sp>
        <p:nvSpPr>
          <p:cNvPr id="13" name="where svd shines card"/>
          <p:cNvSpPr/>
          <p:nvPr/>
        </p:nvSpPr>
        <p:spPr>
          <a:xfrm>
            <a:off x="6035040" y="5486400"/>
            <a:ext cx="5623560" cy="777240"/>
          </a:xfrm>
          <a:prstGeom prst="roundRect">
            <a:avLst>
              <a:gd name="adj" fmla="val 14118"/>
            </a:avLst>
          </a:prstGeom>
          <a:solidFill>
            <a:srgbClr val="2B3440"/>
          </a:solidFill>
          <a:ln/>
        </p:spPr>
      </p:sp>
      <p:sp>
        <p:nvSpPr>
          <p:cNvPr id="14" name="where svd shines"/>
          <p:cNvSpPr txBox="1"/>
          <p:nvPr/>
        </p:nvSpPr>
        <p:spPr>
          <a:xfrm>
            <a:off x="6263640" y="5486400"/>
            <a:ext cx="5257800" cy="777240"/>
          </a:xfrm>
          <a:prstGeom prst="rect">
            <a:avLst/>
          </a:prstGeom>
          <a:noFill/>
          <a:ln/>
        </p:spPr>
        <p:txBody>
          <a:bodyPr wrap="square" lIns="0" tIns="0" rIns="0" bIns="0" rtlCol="0" anchor="ctr"/>
          <a:lstStyle/>
          <a:p>
            <a:pPr indent="0" marL="0">
              <a:buNone/>
            </a:pPr>
            <a:r>
              <a:rPr lang="en-US" sz="1300" b="1" dirty="0">
                <a:solidFill>
                  <a:schemeClr val="accent2"/>
                </a:solidFill>
              </a:rPr>
              <a:t>Where SVD shines: </a:t>
            </a:r>
            <a:pPr indent="0" marL="0">
              <a:buNone/>
            </a:pPr>
            <a:r>
              <a:rPr lang="en-US" sz="1300" dirty="0">
                <a:solidFill>
                  <a:schemeClr val="bg1"/>
                </a:solidFill>
              </a:rPr>
              <a:t>progressive loading (send layers in order), denoising, and as the idea behind transform codecs.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3BE"/>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VD Ink and Amber">
  <a:themeElements>
    <a:clrScheme name="SVD Ink and Amber">
      <a:dk1>
        <a:srgbClr val="15181D"/>
      </a:dk1>
      <a:lt1>
        <a:srgbClr val="FFFFFF"/>
      </a:lt1>
      <a:dk2>
        <a:srgbClr val="2B3440"/>
      </a:dk2>
      <a:lt2>
        <a:srgbClr val="F1F3F5"/>
      </a:lt2>
      <a:accent1>
        <a:srgbClr val="E8871E"/>
      </a:accent1>
      <a:accent2>
        <a:srgbClr val="2A9D8F"/>
      </a:accent2>
      <a:accent3>
        <a:srgbClr val="8A96A3"/>
      </a:accent3>
      <a:accent4>
        <a:srgbClr val="C44536"/>
      </a:accent4>
      <a:accent5>
        <a:srgbClr val="3D5A80"/>
      </a:accent5>
      <a:accent6>
        <a:srgbClr val="6A994E"/>
      </a:accent6>
      <a:hlink>
        <a:srgbClr val="2A9D8F"/>
      </a:hlink>
      <a:folHlink>
        <a:srgbClr val="3D5A80"/>
      </a:folHlink>
    </a:clrScheme>
    <a:fontScheme name="SVD Ink and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Compressing Images with Singular Value Decomposition</dc:title>
  <dc:subject>MFAD Mini Project: SVD and Image Compression</dc:subject>
  <dc:creator>PptxGenJS</dc:creator>
  <cp:lastModifiedBy>PptxGenJS</cp:lastModifiedBy>
  <cp:revision>1</cp:revision>
  <dcterms:created xsi:type="dcterms:W3CDTF">2026-10-06T15:05:24Z</dcterms:created>
  <dcterms:modified xsi:type="dcterms:W3CDTF">2026-10-06T15:05:24Z</dcterms:modified>
</cp:coreProperties>
</file>